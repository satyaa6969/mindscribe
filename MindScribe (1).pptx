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IN" dirty="0"/>
              <a:t>Contribution</a:t>
            </a:r>
          </a:p>
        </c:rich>
      </c:tx>
      <c:overlay val="0"/>
      <c:spPr>
        <a:solidFill>
          <a:schemeClr val="bg2"/>
        </a:solid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Frontend (%)</c:v>
                </c:pt>
              </c:strCache>
            </c:strRef>
          </c:tx>
          <c:spPr>
            <a:solidFill>
              <a:schemeClr val="accent1"/>
            </a:solidFill>
            <a:ln>
              <a:noFill/>
            </a:ln>
            <a:effectLst/>
          </c:spPr>
          <c:invertIfNegative val="0"/>
          <c:cat>
            <c:strRef>
              <c:f>Sheet1!$A$2:$A$6</c:f>
              <c:strCache>
                <c:ptCount val="5"/>
                <c:pt idx="0">
                  <c:v>Satyajeet Kumar</c:v>
                </c:pt>
                <c:pt idx="1">
                  <c:v>Gajendra Nath Soren</c:v>
                </c:pt>
                <c:pt idx="2">
                  <c:v>Pranay Tembhurkar</c:v>
                </c:pt>
                <c:pt idx="3">
                  <c:v>Balram Sarkar</c:v>
                </c:pt>
                <c:pt idx="4">
                  <c:v>Kartik Thalore</c:v>
                </c:pt>
              </c:strCache>
            </c:strRef>
          </c:cat>
          <c:val>
            <c:numRef>
              <c:f>Sheet1!$B$2:$B$6</c:f>
              <c:numCache>
                <c:formatCode>General</c:formatCode>
                <c:ptCount val="5"/>
                <c:pt idx="0">
                  <c:v>10</c:v>
                </c:pt>
                <c:pt idx="1">
                  <c:v>10</c:v>
                </c:pt>
                <c:pt idx="2">
                  <c:v>40</c:v>
                </c:pt>
                <c:pt idx="3">
                  <c:v>25</c:v>
                </c:pt>
                <c:pt idx="4">
                  <c:v>15</c:v>
                </c:pt>
              </c:numCache>
            </c:numRef>
          </c:val>
          <c:extLst>
            <c:ext xmlns:c16="http://schemas.microsoft.com/office/drawing/2014/chart" uri="{C3380CC4-5D6E-409C-BE32-E72D297353CC}">
              <c16:uniqueId val="{00000000-A5DF-400D-A7ED-538F326C405F}"/>
            </c:ext>
          </c:extLst>
        </c:ser>
        <c:ser>
          <c:idx val="1"/>
          <c:order val="1"/>
          <c:tx>
            <c:strRef>
              <c:f>Sheet1!$C$1</c:f>
              <c:strCache>
                <c:ptCount val="1"/>
                <c:pt idx="0">
                  <c:v>Backend (%)</c:v>
                </c:pt>
              </c:strCache>
            </c:strRef>
          </c:tx>
          <c:spPr>
            <a:solidFill>
              <a:schemeClr val="accent2"/>
            </a:solidFill>
            <a:ln>
              <a:noFill/>
            </a:ln>
            <a:effectLst/>
          </c:spPr>
          <c:invertIfNegative val="0"/>
          <c:cat>
            <c:strRef>
              <c:f>Sheet1!$A$2:$A$6</c:f>
              <c:strCache>
                <c:ptCount val="5"/>
                <c:pt idx="0">
                  <c:v>Satyajeet Kumar</c:v>
                </c:pt>
                <c:pt idx="1">
                  <c:v>Gajendra Nath Soren</c:v>
                </c:pt>
                <c:pt idx="2">
                  <c:v>Pranay Tembhurkar</c:v>
                </c:pt>
                <c:pt idx="3">
                  <c:v>Balram Sarkar</c:v>
                </c:pt>
                <c:pt idx="4">
                  <c:v>Kartik Thalore</c:v>
                </c:pt>
              </c:strCache>
            </c:strRef>
          </c:cat>
          <c:val>
            <c:numRef>
              <c:f>Sheet1!$C$2:$C$6</c:f>
              <c:numCache>
                <c:formatCode>General</c:formatCode>
                <c:ptCount val="5"/>
                <c:pt idx="0">
                  <c:v>45</c:v>
                </c:pt>
                <c:pt idx="1">
                  <c:v>30</c:v>
                </c:pt>
                <c:pt idx="2">
                  <c:v>5</c:v>
                </c:pt>
                <c:pt idx="3">
                  <c:v>5</c:v>
                </c:pt>
                <c:pt idx="4">
                  <c:v>15</c:v>
                </c:pt>
              </c:numCache>
            </c:numRef>
          </c:val>
          <c:extLst>
            <c:ext xmlns:c16="http://schemas.microsoft.com/office/drawing/2014/chart" uri="{C3380CC4-5D6E-409C-BE32-E72D297353CC}">
              <c16:uniqueId val="{00000001-A5DF-400D-A7ED-538F326C405F}"/>
            </c:ext>
          </c:extLst>
        </c:ser>
        <c:ser>
          <c:idx val="2"/>
          <c:order val="2"/>
          <c:tx>
            <c:strRef>
              <c:f>Sheet1!$D$1</c:f>
              <c:strCache>
                <c:ptCount val="1"/>
                <c:pt idx="0">
                  <c:v>PPT (%)</c:v>
                </c:pt>
              </c:strCache>
            </c:strRef>
          </c:tx>
          <c:spPr>
            <a:solidFill>
              <a:schemeClr val="accent3"/>
            </a:solidFill>
            <a:ln>
              <a:noFill/>
            </a:ln>
            <a:effectLst/>
          </c:spPr>
          <c:invertIfNegative val="0"/>
          <c:cat>
            <c:strRef>
              <c:f>Sheet1!$A$2:$A$6</c:f>
              <c:strCache>
                <c:ptCount val="5"/>
                <c:pt idx="0">
                  <c:v>Satyajeet Kumar</c:v>
                </c:pt>
                <c:pt idx="1">
                  <c:v>Gajendra Nath Soren</c:v>
                </c:pt>
                <c:pt idx="2">
                  <c:v>Pranay Tembhurkar</c:v>
                </c:pt>
                <c:pt idx="3">
                  <c:v>Balram Sarkar</c:v>
                </c:pt>
                <c:pt idx="4">
                  <c:v>Kartik Thalore</c:v>
                </c:pt>
              </c:strCache>
            </c:strRef>
          </c:cat>
          <c:val>
            <c:numRef>
              <c:f>Sheet1!$D$2:$D$6</c:f>
              <c:numCache>
                <c:formatCode>General</c:formatCode>
                <c:ptCount val="5"/>
                <c:pt idx="0">
                  <c:v>5</c:v>
                </c:pt>
                <c:pt idx="1">
                  <c:v>20</c:v>
                </c:pt>
                <c:pt idx="2">
                  <c:v>10</c:v>
                </c:pt>
                <c:pt idx="3">
                  <c:v>30</c:v>
                </c:pt>
                <c:pt idx="4">
                  <c:v>35</c:v>
                </c:pt>
              </c:numCache>
            </c:numRef>
          </c:val>
          <c:extLst>
            <c:ext xmlns:c16="http://schemas.microsoft.com/office/drawing/2014/chart" uri="{C3380CC4-5D6E-409C-BE32-E72D297353CC}">
              <c16:uniqueId val="{00000002-A5DF-400D-A7ED-538F326C405F}"/>
            </c:ext>
          </c:extLst>
        </c:ser>
        <c:ser>
          <c:idx val="3"/>
          <c:order val="3"/>
          <c:tx>
            <c:strRef>
              <c:f>Sheet1!$E$1</c:f>
              <c:strCache>
                <c:ptCount val="1"/>
                <c:pt idx="0">
                  <c:v>Report (%)</c:v>
                </c:pt>
              </c:strCache>
            </c:strRef>
          </c:tx>
          <c:spPr>
            <a:solidFill>
              <a:schemeClr val="accent4"/>
            </a:solidFill>
            <a:ln>
              <a:noFill/>
            </a:ln>
            <a:effectLst/>
          </c:spPr>
          <c:invertIfNegative val="0"/>
          <c:cat>
            <c:strRef>
              <c:f>Sheet1!$A$2:$A$6</c:f>
              <c:strCache>
                <c:ptCount val="5"/>
                <c:pt idx="0">
                  <c:v>Satyajeet Kumar</c:v>
                </c:pt>
                <c:pt idx="1">
                  <c:v>Gajendra Nath Soren</c:v>
                </c:pt>
                <c:pt idx="2">
                  <c:v>Pranay Tembhurkar</c:v>
                </c:pt>
                <c:pt idx="3">
                  <c:v>Balram Sarkar</c:v>
                </c:pt>
                <c:pt idx="4">
                  <c:v>Kartik Thalore</c:v>
                </c:pt>
              </c:strCache>
            </c:strRef>
          </c:cat>
          <c:val>
            <c:numRef>
              <c:f>Sheet1!$E$2:$E$6</c:f>
              <c:numCache>
                <c:formatCode>General</c:formatCode>
                <c:ptCount val="5"/>
                <c:pt idx="0">
                  <c:v>20</c:v>
                </c:pt>
                <c:pt idx="1">
                  <c:v>20</c:v>
                </c:pt>
                <c:pt idx="2">
                  <c:v>25</c:v>
                </c:pt>
                <c:pt idx="3">
                  <c:v>20</c:v>
                </c:pt>
                <c:pt idx="4">
                  <c:v>15</c:v>
                </c:pt>
              </c:numCache>
            </c:numRef>
          </c:val>
          <c:extLst>
            <c:ext xmlns:c16="http://schemas.microsoft.com/office/drawing/2014/chart" uri="{C3380CC4-5D6E-409C-BE32-E72D297353CC}">
              <c16:uniqueId val="{00000003-A5DF-400D-A7ED-538F326C405F}"/>
            </c:ext>
          </c:extLst>
        </c:ser>
        <c:ser>
          <c:idx val="4"/>
          <c:order val="4"/>
          <c:tx>
            <c:strRef>
              <c:f>Sheet1!$F$1</c:f>
              <c:strCache>
                <c:ptCount val="1"/>
                <c:pt idx="0">
                  <c:v>Raw Total (%)</c:v>
                </c:pt>
              </c:strCache>
            </c:strRef>
          </c:tx>
          <c:spPr>
            <a:solidFill>
              <a:schemeClr val="accent5"/>
            </a:solidFill>
            <a:ln>
              <a:noFill/>
            </a:ln>
            <a:effectLst/>
          </c:spPr>
          <c:invertIfNegative val="0"/>
          <c:cat>
            <c:strRef>
              <c:f>Sheet1!$A$2:$A$6</c:f>
              <c:strCache>
                <c:ptCount val="5"/>
                <c:pt idx="0">
                  <c:v>Satyajeet Kumar</c:v>
                </c:pt>
                <c:pt idx="1">
                  <c:v>Gajendra Nath Soren</c:v>
                </c:pt>
                <c:pt idx="2">
                  <c:v>Pranay Tembhurkar</c:v>
                </c:pt>
                <c:pt idx="3">
                  <c:v>Balram Sarkar</c:v>
                </c:pt>
                <c:pt idx="4">
                  <c:v>Kartik Thalore</c:v>
                </c:pt>
              </c:strCache>
            </c:strRef>
          </c:cat>
          <c:val>
            <c:numRef>
              <c:f>Sheet1!$F$2:$F$6</c:f>
              <c:numCache>
                <c:formatCode>General</c:formatCode>
                <c:ptCount val="5"/>
                <c:pt idx="0">
                  <c:v>80</c:v>
                </c:pt>
                <c:pt idx="1">
                  <c:v>80</c:v>
                </c:pt>
                <c:pt idx="2">
                  <c:v>80</c:v>
                </c:pt>
                <c:pt idx="3">
                  <c:v>80</c:v>
                </c:pt>
                <c:pt idx="4">
                  <c:v>80</c:v>
                </c:pt>
              </c:numCache>
            </c:numRef>
          </c:val>
          <c:extLst>
            <c:ext xmlns:c16="http://schemas.microsoft.com/office/drawing/2014/chart" uri="{C3380CC4-5D6E-409C-BE32-E72D297353CC}">
              <c16:uniqueId val="{00000004-A5DF-400D-A7ED-538F326C405F}"/>
            </c:ext>
          </c:extLst>
        </c:ser>
        <c:dLbls>
          <c:showLegendKey val="0"/>
          <c:showVal val="0"/>
          <c:showCatName val="0"/>
          <c:showSerName val="0"/>
          <c:showPercent val="0"/>
          <c:showBubbleSize val="0"/>
        </c:dLbls>
        <c:gapWidth val="219"/>
        <c:overlap val="-27"/>
        <c:axId val="618187560"/>
        <c:axId val="618191160"/>
      </c:barChart>
      <c:catAx>
        <c:axId val="61818756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618191160"/>
        <c:crosses val="autoZero"/>
        <c:auto val="1"/>
        <c:lblAlgn val="ctr"/>
        <c:lblOffset val="100"/>
        <c:noMultiLvlLbl val="0"/>
      </c:catAx>
      <c:valAx>
        <c:axId val="61819116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618187560"/>
        <c:crosses val="autoZero"/>
        <c:crossBetween val="between"/>
      </c:valAx>
      <c:spPr>
        <a:solidFill>
          <a:schemeClr val="bg1"/>
        </a:solidFill>
        <a:ln>
          <a:solidFill>
            <a:schemeClr val="tx1"/>
          </a:solid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D0FD11-14E1-D2A4-3CCE-EF74267C5972}"/>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IN"/>
          </a:p>
        </p:txBody>
      </p:sp>
      <p:sp>
        <p:nvSpPr>
          <p:cNvPr id="3" name="Subtitle 2">
            <a:extLst>
              <a:ext uri="{FF2B5EF4-FFF2-40B4-BE49-F238E27FC236}">
                <a16:creationId xmlns:a16="http://schemas.microsoft.com/office/drawing/2014/main" id="{6D8EAAE9-56BE-A2A9-3FF7-C50C9F4E9C2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IN"/>
          </a:p>
        </p:txBody>
      </p:sp>
      <p:sp>
        <p:nvSpPr>
          <p:cNvPr id="4" name="Date Placeholder 3">
            <a:extLst>
              <a:ext uri="{FF2B5EF4-FFF2-40B4-BE49-F238E27FC236}">
                <a16:creationId xmlns:a16="http://schemas.microsoft.com/office/drawing/2014/main" id="{07789A96-F6BB-348E-FE97-EB3F1CC303D5}"/>
              </a:ext>
            </a:extLst>
          </p:cNvPr>
          <p:cNvSpPr>
            <a:spLocks noGrp="1"/>
          </p:cNvSpPr>
          <p:nvPr>
            <p:ph type="dt" sz="half" idx="10"/>
          </p:nvPr>
        </p:nvSpPr>
        <p:spPr/>
        <p:txBody>
          <a:bodyPr/>
          <a:lstStyle/>
          <a:p>
            <a:fld id="{5B52891A-2B39-4C89-8475-2D449E5FE979}" type="datetimeFigureOut">
              <a:rPr lang="en-IN" smtClean="0"/>
              <a:t>08-11-2025</a:t>
            </a:fld>
            <a:endParaRPr lang="en-IN"/>
          </a:p>
        </p:txBody>
      </p:sp>
      <p:sp>
        <p:nvSpPr>
          <p:cNvPr id="5" name="Footer Placeholder 4">
            <a:extLst>
              <a:ext uri="{FF2B5EF4-FFF2-40B4-BE49-F238E27FC236}">
                <a16:creationId xmlns:a16="http://schemas.microsoft.com/office/drawing/2014/main" id="{31226996-F708-8060-4486-3B183AED15B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6682E83-2027-B155-969C-8B7ADBA3B9BF}"/>
              </a:ext>
            </a:extLst>
          </p:cNvPr>
          <p:cNvSpPr>
            <a:spLocks noGrp="1"/>
          </p:cNvSpPr>
          <p:nvPr>
            <p:ph type="sldNum" sz="quarter" idx="12"/>
          </p:nvPr>
        </p:nvSpPr>
        <p:spPr/>
        <p:txBody>
          <a:bodyPr/>
          <a:lstStyle/>
          <a:p>
            <a:fld id="{F08472FA-43B0-4627-B785-020F90277080}" type="slidenum">
              <a:rPr lang="en-IN" smtClean="0"/>
              <a:t>‹#›</a:t>
            </a:fld>
            <a:endParaRPr lang="en-IN"/>
          </a:p>
        </p:txBody>
      </p:sp>
    </p:spTree>
    <p:extLst>
      <p:ext uri="{BB962C8B-B14F-4D97-AF65-F5344CB8AC3E}">
        <p14:creationId xmlns:p14="http://schemas.microsoft.com/office/powerpoint/2010/main" val="25156152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3B962C-8AC2-E9E2-CB16-89C8C7765D2A}"/>
              </a:ext>
            </a:extLst>
          </p:cNvPr>
          <p:cNvSpPr>
            <a:spLocks noGrp="1"/>
          </p:cNvSpPr>
          <p:nvPr>
            <p:ph type="title"/>
          </p:nvPr>
        </p:nvSpPr>
        <p:spPr/>
        <p:txBody>
          <a:bodyPr/>
          <a:lstStyle/>
          <a:p>
            <a:r>
              <a:rPr lang="en-GB"/>
              <a:t>Click to edit Master title style</a:t>
            </a:r>
            <a:endParaRPr lang="en-IN"/>
          </a:p>
        </p:txBody>
      </p:sp>
      <p:sp>
        <p:nvSpPr>
          <p:cNvPr id="3" name="Content Placeholder 2">
            <a:extLst>
              <a:ext uri="{FF2B5EF4-FFF2-40B4-BE49-F238E27FC236}">
                <a16:creationId xmlns:a16="http://schemas.microsoft.com/office/drawing/2014/main" id="{DD539862-FD3B-EB4E-974B-67C9ABF030D1}"/>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Date Placeholder 3">
            <a:extLst>
              <a:ext uri="{FF2B5EF4-FFF2-40B4-BE49-F238E27FC236}">
                <a16:creationId xmlns:a16="http://schemas.microsoft.com/office/drawing/2014/main" id="{6F06EE43-DA20-AC80-ACC7-2410B0656800}"/>
              </a:ext>
            </a:extLst>
          </p:cNvPr>
          <p:cNvSpPr>
            <a:spLocks noGrp="1"/>
          </p:cNvSpPr>
          <p:nvPr>
            <p:ph type="dt" sz="half" idx="10"/>
          </p:nvPr>
        </p:nvSpPr>
        <p:spPr/>
        <p:txBody>
          <a:bodyPr/>
          <a:lstStyle/>
          <a:p>
            <a:fld id="{5B52891A-2B39-4C89-8475-2D449E5FE979}" type="datetimeFigureOut">
              <a:rPr lang="en-IN" smtClean="0"/>
              <a:t>08-11-2025</a:t>
            </a:fld>
            <a:endParaRPr lang="en-IN"/>
          </a:p>
        </p:txBody>
      </p:sp>
      <p:sp>
        <p:nvSpPr>
          <p:cNvPr id="5" name="Footer Placeholder 4">
            <a:extLst>
              <a:ext uri="{FF2B5EF4-FFF2-40B4-BE49-F238E27FC236}">
                <a16:creationId xmlns:a16="http://schemas.microsoft.com/office/drawing/2014/main" id="{C177AC49-B046-3344-43E5-F3607ADF6C4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CA65122-622B-288A-E346-2A15BC108AB7}"/>
              </a:ext>
            </a:extLst>
          </p:cNvPr>
          <p:cNvSpPr>
            <a:spLocks noGrp="1"/>
          </p:cNvSpPr>
          <p:nvPr>
            <p:ph type="sldNum" sz="quarter" idx="12"/>
          </p:nvPr>
        </p:nvSpPr>
        <p:spPr/>
        <p:txBody>
          <a:bodyPr/>
          <a:lstStyle/>
          <a:p>
            <a:fld id="{F08472FA-43B0-4627-B785-020F90277080}" type="slidenum">
              <a:rPr lang="en-IN" smtClean="0"/>
              <a:t>‹#›</a:t>
            </a:fld>
            <a:endParaRPr lang="en-IN"/>
          </a:p>
        </p:txBody>
      </p:sp>
    </p:spTree>
    <p:extLst>
      <p:ext uri="{BB962C8B-B14F-4D97-AF65-F5344CB8AC3E}">
        <p14:creationId xmlns:p14="http://schemas.microsoft.com/office/powerpoint/2010/main" val="15087448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A48F02-E8E0-B35B-734B-A4853C4EB79E}"/>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IN"/>
          </a:p>
        </p:txBody>
      </p:sp>
      <p:sp>
        <p:nvSpPr>
          <p:cNvPr id="3" name="Text Placeholder 2">
            <a:extLst>
              <a:ext uri="{FF2B5EF4-FFF2-40B4-BE49-F238E27FC236}">
                <a16:creationId xmlns:a16="http://schemas.microsoft.com/office/drawing/2014/main" id="{B4DAD328-5FD6-4C06-1739-A87761FCA54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D4174EB2-6CBB-3EAD-79A0-10404BC5EA5D}"/>
              </a:ext>
            </a:extLst>
          </p:cNvPr>
          <p:cNvSpPr>
            <a:spLocks noGrp="1"/>
          </p:cNvSpPr>
          <p:nvPr>
            <p:ph type="dt" sz="half" idx="10"/>
          </p:nvPr>
        </p:nvSpPr>
        <p:spPr/>
        <p:txBody>
          <a:bodyPr/>
          <a:lstStyle/>
          <a:p>
            <a:fld id="{5B52891A-2B39-4C89-8475-2D449E5FE979}" type="datetimeFigureOut">
              <a:rPr lang="en-IN" smtClean="0"/>
              <a:t>08-11-2025</a:t>
            </a:fld>
            <a:endParaRPr lang="en-IN"/>
          </a:p>
        </p:txBody>
      </p:sp>
      <p:sp>
        <p:nvSpPr>
          <p:cNvPr id="5" name="Footer Placeholder 4">
            <a:extLst>
              <a:ext uri="{FF2B5EF4-FFF2-40B4-BE49-F238E27FC236}">
                <a16:creationId xmlns:a16="http://schemas.microsoft.com/office/drawing/2014/main" id="{5A349DC1-837B-BB14-FCBE-6C927C8E1DA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CAEC40B-3182-2753-F495-1A28ACD1051E}"/>
              </a:ext>
            </a:extLst>
          </p:cNvPr>
          <p:cNvSpPr>
            <a:spLocks noGrp="1"/>
          </p:cNvSpPr>
          <p:nvPr>
            <p:ph type="sldNum" sz="quarter" idx="12"/>
          </p:nvPr>
        </p:nvSpPr>
        <p:spPr/>
        <p:txBody>
          <a:bodyPr/>
          <a:lstStyle/>
          <a:p>
            <a:fld id="{F08472FA-43B0-4627-B785-020F90277080}" type="slidenum">
              <a:rPr lang="en-IN" smtClean="0"/>
              <a:t>‹#›</a:t>
            </a:fld>
            <a:endParaRPr lang="en-IN"/>
          </a:p>
        </p:txBody>
      </p:sp>
    </p:spTree>
    <p:extLst>
      <p:ext uri="{BB962C8B-B14F-4D97-AF65-F5344CB8AC3E}">
        <p14:creationId xmlns:p14="http://schemas.microsoft.com/office/powerpoint/2010/main" val="8581289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C4C8AE-2CAC-BF86-DEA3-E3CF27DFC8F5}"/>
              </a:ext>
            </a:extLst>
          </p:cNvPr>
          <p:cNvSpPr>
            <a:spLocks noGrp="1"/>
          </p:cNvSpPr>
          <p:nvPr>
            <p:ph type="title"/>
          </p:nvPr>
        </p:nvSpPr>
        <p:spPr/>
        <p:txBody>
          <a:bodyPr/>
          <a:lstStyle/>
          <a:p>
            <a:r>
              <a:rPr lang="en-GB"/>
              <a:t>Click to edit Master title style</a:t>
            </a:r>
            <a:endParaRPr lang="en-IN"/>
          </a:p>
        </p:txBody>
      </p:sp>
      <p:sp>
        <p:nvSpPr>
          <p:cNvPr id="3" name="Content Placeholder 2">
            <a:extLst>
              <a:ext uri="{FF2B5EF4-FFF2-40B4-BE49-F238E27FC236}">
                <a16:creationId xmlns:a16="http://schemas.microsoft.com/office/drawing/2014/main" id="{C65EF18B-1B71-EFFD-67E4-A31CB8C22719}"/>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Content Placeholder 3">
            <a:extLst>
              <a:ext uri="{FF2B5EF4-FFF2-40B4-BE49-F238E27FC236}">
                <a16:creationId xmlns:a16="http://schemas.microsoft.com/office/drawing/2014/main" id="{49584DDF-51E6-75B0-36B4-460910BA3C9F}"/>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5" name="Date Placeholder 4">
            <a:extLst>
              <a:ext uri="{FF2B5EF4-FFF2-40B4-BE49-F238E27FC236}">
                <a16:creationId xmlns:a16="http://schemas.microsoft.com/office/drawing/2014/main" id="{361730C1-06B5-1997-A25E-698B4FAF6099}"/>
              </a:ext>
            </a:extLst>
          </p:cNvPr>
          <p:cNvSpPr>
            <a:spLocks noGrp="1"/>
          </p:cNvSpPr>
          <p:nvPr>
            <p:ph type="dt" sz="half" idx="10"/>
          </p:nvPr>
        </p:nvSpPr>
        <p:spPr/>
        <p:txBody>
          <a:bodyPr/>
          <a:lstStyle/>
          <a:p>
            <a:fld id="{5B52891A-2B39-4C89-8475-2D449E5FE979}" type="datetimeFigureOut">
              <a:rPr lang="en-IN" smtClean="0"/>
              <a:t>08-11-2025</a:t>
            </a:fld>
            <a:endParaRPr lang="en-IN"/>
          </a:p>
        </p:txBody>
      </p:sp>
      <p:sp>
        <p:nvSpPr>
          <p:cNvPr id="6" name="Footer Placeholder 5">
            <a:extLst>
              <a:ext uri="{FF2B5EF4-FFF2-40B4-BE49-F238E27FC236}">
                <a16:creationId xmlns:a16="http://schemas.microsoft.com/office/drawing/2014/main" id="{24E6FAB3-75FA-EC8F-B32D-BDF968DD0A2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968C035-B265-D211-2405-BC3681BA034F}"/>
              </a:ext>
            </a:extLst>
          </p:cNvPr>
          <p:cNvSpPr>
            <a:spLocks noGrp="1"/>
          </p:cNvSpPr>
          <p:nvPr>
            <p:ph type="sldNum" sz="quarter" idx="12"/>
          </p:nvPr>
        </p:nvSpPr>
        <p:spPr/>
        <p:txBody>
          <a:bodyPr/>
          <a:lstStyle/>
          <a:p>
            <a:fld id="{F08472FA-43B0-4627-B785-020F90277080}" type="slidenum">
              <a:rPr lang="en-IN" smtClean="0"/>
              <a:t>‹#›</a:t>
            </a:fld>
            <a:endParaRPr lang="en-IN"/>
          </a:p>
        </p:txBody>
      </p:sp>
    </p:spTree>
    <p:extLst>
      <p:ext uri="{BB962C8B-B14F-4D97-AF65-F5344CB8AC3E}">
        <p14:creationId xmlns:p14="http://schemas.microsoft.com/office/powerpoint/2010/main" val="23760814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AC709B-C9D9-18EA-6393-0B2BE2321581}"/>
              </a:ext>
            </a:extLst>
          </p:cNvPr>
          <p:cNvSpPr>
            <a:spLocks noGrp="1"/>
          </p:cNvSpPr>
          <p:nvPr>
            <p:ph type="title"/>
          </p:nvPr>
        </p:nvSpPr>
        <p:spPr>
          <a:xfrm>
            <a:off x="839788" y="365125"/>
            <a:ext cx="10515600" cy="1325563"/>
          </a:xfrm>
        </p:spPr>
        <p:txBody>
          <a:bodyPr/>
          <a:lstStyle/>
          <a:p>
            <a:r>
              <a:rPr lang="en-GB"/>
              <a:t>Click to edit Master title style</a:t>
            </a:r>
            <a:endParaRPr lang="en-IN"/>
          </a:p>
        </p:txBody>
      </p:sp>
      <p:sp>
        <p:nvSpPr>
          <p:cNvPr id="3" name="Text Placeholder 2">
            <a:extLst>
              <a:ext uri="{FF2B5EF4-FFF2-40B4-BE49-F238E27FC236}">
                <a16:creationId xmlns:a16="http://schemas.microsoft.com/office/drawing/2014/main" id="{CAC907B0-BA96-8ABF-3FFD-FA59EB87919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971A02B3-963E-31F5-68AB-6DFBA02D7621}"/>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5" name="Text Placeholder 4">
            <a:extLst>
              <a:ext uri="{FF2B5EF4-FFF2-40B4-BE49-F238E27FC236}">
                <a16:creationId xmlns:a16="http://schemas.microsoft.com/office/drawing/2014/main" id="{10EDA96E-28BC-AF95-B4B6-07CAC59E53F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E56002F8-A979-06AA-9707-391B43BA13B1}"/>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7" name="Date Placeholder 6">
            <a:extLst>
              <a:ext uri="{FF2B5EF4-FFF2-40B4-BE49-F238E27FC236}">
                <a16:creationId xmlns:a16="http://schemas.microsoft.com/office/drawing/2014/main" id="{0410109B-78E5-AE24-2264-9BB25D9E7920}"/>
              </a:ext>
            </a:extLst>
          </p:cNvPr>
          <p:cNvSpPr>
            <a:spLocks noGrp="1"/>
          </p:cNvSpPr>
          <p:nvPr>
            <p:ph type="dt" sz="half" idx="10"/>
          </p:nvPr>
        </p:nvSpPr>
        <p:spPr/>
        <p:txBody>
          <a:bodyPr/>
          <a:lstStyle/>
          <a:p>
            <a:fld id="{5B52891A-2B39-4C89-8475-2D449E5FE979}" type="datetimeFigureOut">
              <a:rPr lang="en-IN" smtClean="0"/>
              <a:t>08-11-2025</a:t>
            </a:fld>
            <a:endParaRPr lang="en-IN"/>
          </a:p>
        </p:txBody>
      </p:sp>
      <p:sp>
        <p:nvSpPr>
          <p:cNvPr id="8" name="Footer Placeholder 7">
            <a:extLst>
              <a:ext uri="{FF2B5EF4-FFF2-40B4-BE49-F238E27FC236}">
                <a16:creationId xmlns:a16="http://schemas.microsoft.com/office/drawing/2014/main" id="{8E5AF749-4F68-180E-6651-CC2ECFDDBEC1}"/>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4745F4F-A69E-734B-4389-C475ADCD16EA}"/>
              </a:ext>
            </a:extLst>
          </p:cNvPr>
          <p:cNvSpPr>
            <a:spLocks noGrp="1"/>
          </p:cNvSpPr>
          <p:nvPr>
            <p:ph type="sldNum" sz="quarter" idx="12"/>
          </p:nvPr>
        </p:nvSpPr>
        <p:spPr/>
        <p:txBody>
          <a:bodyPr/>
          <a:lstStyle/>
          <a:p>
            <a:fld id="{F08472FA-43B0-4627-B785-020F90277080}" type="slidenum">
              <a:rPr lang="en-IN" smtClean="0"/>
              <a:t>‹#›</a:t>
            </a:fld>
            <a:endParaRPr lang="en-IN"/>
          </a:p>
        </p:txBody>
      </p:sp>
    </p:spTree>
    <p:extLst>
      <p:ext uri="{BB962C8B-B14F-4D97-AF65-F5344CB8AC3E}">
        <p14:creationId xmlns:p14="http://schemas.microsoft.com/office/powerpoint/2010/main" val="29160215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B1E8F0-9EDA-C7EC-E8CB-C396807CD6E3}"/>
              </a:ext>
            </a:extLst>
          </p:cNvPr>
          <p:cNvSpPr>
            <a:spLocks noGrp="1"/>
          </p:cNvSpPr>
          <p:nvPr>
            <p:ph type="title"/>
          </p:nvPr>
        </p:nvSpPr>
        <p:spPr/>
        <p:txBody>
          <a:bodyPr/>
          <a:lstStyle/>
          <a:p>
            <a:r>
              <a:rPr lang="en-GB"/>
              <a:t>Click to edit Master title style</a:t>
            </a:r>
            <a:endParaRPr lang="en-IN"/>
          </a:p>
        </p:txBody>
      </p:sp>
      <p:sp>
        <p:nvSpPr>
          <p:cNvPr id="3" name="Date Placeholder 2">
            <a:extLst>
              <a:ext uri="{FF2B5EF4-FFF2-40B4-BE49-F238E27FC236}">
                <a16:creationId xmlns:a16="http://schemas.microsoft.com/office/drawing/2014/main" id="{60272634-5941-FED4-354A-9B4E17940556}"/>
              </a:ext>
            </a:extLst>
          </p:cNvPr>
          <p:cNvSpPr>
            <a:spLocks noGrp="1"/>
          </p:cNvSpPr>
          <p:nvPr>
            <p:ph type="dt" sz="half" idx="10"/>
          </p:nvPr>
        </p:nvSpPr>
        <p:spPr/>
        <p:txBody>
          <a:bodyPr/>
          <a:lstStyle/>
          <a:p>
            <a:fld id="{5B52891A-2B39-4C89-8475-2D449E5FE979}" type="datetimeFigureOut">
              <a:rPr lang="en-IN" smtClean="0"/>
              <a:t>08-11-2025</a:t>
            </a:fld>
            <a:endParaRPr lang="en-IN"/>
          </a:p>
        </p:txBody>
      </p:sp>
      <p:sp>
        <p:nvSpPr>
          <p:cNvPr id="4" name="Footer Placeholder 3">
            <a:extLst>
              <a:ext uri="{FF2B5EF4-FFF2-40B4-BE49-F238E27FC236}">
                <a16:creationId xmlns:a16="http://schemas.microsoft.com/office/drawing/2014/main" id="{53E33A48-ACBA-9AA5-88CB-B4AFBB52F612}"/>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F47207C2-7F64-2723-9AD3-FBE1838B5E6F}"/>
              </a:ext>
            </a:extLst>
          </p:cNvPr>
          <p:cNvSpPr>
            <a:spLocks noGrp="1"/>
          </p:cNvSpPr>
          <p:nvPr>
            <p:ph type="sldNum" sz="quarter" idx="12"/>
          </p:nvPr>
        </p:nvSpPr>
        <p:spPr/>
        <p:txBody>
          <a:bodyPr/>
          <a:lstStyle/>
          <a:p>
            <a:fld id="{F08472FA-43B0-4627-B785-020F90277080}" type="slidenum">
              <a:rPr lang="en-IN" smtClean="0"/>
              <a:t>‹#›</a:t>
            </a:fld>
            <a:endParaRPr lang="en-IN"/>
          </a:p>
        </p:txBody>
      </p:sp>
    </p:spTree>
    <p:extLst>
      <p:ext uri="{BB962C8B-B14F-4D97-AF65-F5344CB8AC3E}">
        <p14:creationId xmlns:p14="http://schemas.microsoft.com/office/powerpoint/2010/main" val="8298492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AFAD635-59C0-A77C-5504-4C3B3F5E23DD}"/>
              </a:ext>
            </a:extLst>
          </p:cNvPr>
          <p:cNvSpPr>
            <a:spLocks noGrp="1"/>
          </p:cNvSpPr>
          <p:nvPr>
            <p:ph type="dt" sz="half" idx="10"/>
          </p:nvPr>
        </p:nvSpPr>
        <p:spPr/>
        <p:txBody>
          <a:bodyPr/>
          <a:lstStyle/>
          <a:p>
            <a:fld id="{5B52891A-2B39-4C89-8475-2D449E5FE979}" type="datetimeFigureOut">
              <a:rPr lang="en-IN" smtClean="0"/>
              <a:t>08-11-2025</a:t>
            </a:fld>
            <a:endParaRPr lang="en-IN"/>
          </a:p>
        </p:txBody>
      </p:sp>
      <p:sp>
        <p:nvSpPr>
          <p:cNvPr id="3" name="Footer Placeholder 2">
            <a:extLst>
              <a:ext uri="{FF2B5EF4-FFF2-40B4-BE49-F238E27FC236}">
                <a16:creationId xmlns:a16="http://schemas.microsoft.com/office/drawing/2014/main" id="{F4B83269-B3DA-4E6E-7C39-D7B2A6EC3BD3}"/>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077D3269-8941-27BA-CE1B-83B5AEADC0FD}"/>
              </a:ext>
            </a:extLst>
          </p:cNvPr>
          <p:cNvSpPr>
            <a:spLocks noGrp="1"/>
          </p:cNvSpPr>
          <p:nvPr>
            <p:ph type="sldNum" sz="quarter" idx="12"/>
          </p:nvPr>
        </p:nvSpPr>
        <p:spPr/>
        <p:txBody>
          <a:bodyPr/>
          <a:lstStyle/>
          <a:p>
            <a:fld id="{F08472FA-43B0-4627-B785-020F90277080}" type="slidenum">
              <a:rPr lang="en-IN" smtClean="0"/>
              <a:t>‹#›</a:t>
            </a:fld>
            <a:endParaRPr lang="en-IN"/>
          </a:p>
        </p:txBody>
      </p:sp>
    </p:spTree>
    <p:extLst>
      <p:ext uri="{BB962C8B-B14F-4D97-AF65-F5344CB8AC3E}">
        <p14:creationId xmlns:p14="http://schemas.microsoft.com/office/powerpoint/2010/main" val="24567508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C75F14-8C26-2680-22C0-1968246419BB}"/>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IN"/>
          </a:p>
        </p:txBody>
      </p:sp>
      <p:sp>
        <p:nvSpPr>
          <p:cNvPr id="3" name="Content Placeholder 2">
            <a:extLst>
              <a:ext uri="{FF2B5EF4-FFF2-40B4-BE49-F238E27FC236}">
                <a16:creationId xmlns:a16="http://schemas.microsoft.com/office/drawing/2014/main" id="{FEAAEA39-9FC0-E66F-2439-854BB6E3F6D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Text Placeholder 3">
            <a:extLst>
              <a:ext uri="{FF2B5EF4-FFF2-40B4-BE49-F238E27FC236}">
                <a16:creationId xmlns:a16="http://schemas.microsoft.com/office/drawing/2014/main" id="{FB54D77F-BF5F-AC46-F430-9204A0E9D07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C7A260C4-3D85-9873-7897-76ADED5633B4}"/>
              </a:ext>
            </a:extLst>
          </p:cNvPr>
          <p:cNvSpPr>
            <a:spLocks noGrp="1"/>
          </p:cNvSpPr>
          <p:nvPr>
            <p:ph type="dt" sz="half" idx="10"/>
          </p:nvPr>
        </p:nvSpPr>
        <p:spPr/>
        <p:txBody>
          <a:bodyPr/>
          <a:lstStyle/>
          <a:p>
            <a:fld id="{5B52891A-2B39-4C89-8475-2D449E5FE979}" type="datetimeFigureOut">
              <a:rPr lang="en-IN" smtClean="0"/>
              <a:t>08-11-2025</a:t>
            </a:fld>
            <a:endParaRPr lang="en-IN"/>
          </a:p>
        </p:txBody>
      </p:sp>
      <p:sp>
        <p:nvSpPr>
          <p:cNvPr id="6" name="Footer Placeholder 5">
            <a:extLst>
              <a:ext uri="{FF2B5EF4-FFF2-40B4-BE49-F238E27FC236}">
                <a16:creationId xmlns:a16="http://schemas.microsoft.com/office/drawing/2014/main" id="{8FB5B3B0-DB8E-58CA-CA20-7957E904618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416A100-5C39-1D03-9544-D4307C2CAB39}"/>
              </a:ext>
            </a:extLst>
          </p:cNvPr>
          <p:cNvSpPr>
            <a:spLocks noGrp="1"/>
          </p:cNvSpPr>
          <p:nvPr>
            <p:ph type="sldNum" sz="quarter" idx="12"/>
          </p:nvPr>
        </p:nvSpPr>
        <p:spPr/>
        <p:txBody>
          <a:bodyPr/>
          <a:lstStyle/>
          <a:p>
            <a:fld id="{F08472FA-43B0-4627-B785-020F90277080}" type="slidenum">
              <a:rPr lang="en-IN" smtClean="0"/>
              <a:t>‹#›</a:t>
            </a:fld>
            <a:endParaRPr lang="en-IN"/>
          </a:p>
        </p:txBody>
      </p:sp>
    </p:spTree>
    <p:extLst>
      <p:ext uri="{BB962C8B-B14F-4D97-AF65-F5344CB8AC3E}">
        <p14:creationId xmlns:p14="http://schemas.microsoft.com/office/powerpoint/2010/main" val="191898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78B014-7EB2-D60B-6E16-29AD033A05BB}"/>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IN"/>
          </a:p>
        </p:txBody>
      </p:sp>
      <p:sp>
        <p:nvSpPr>
          <p:cNvPr id="3" name="Picture Placeholder 2">
            <a:extLst>
              <a:ext uri="{FF2B5EF4-FFF2-40B4-BE49-F238E27FC236}">
                <a16:creationId xmlns:a16="http://schemas.microsoft.com/office/drawing/2014/main" id="{D53D0D7A-33DF-85EF-DD0B-1B8213EFFDC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EAFFA73-F596-1DE4-AA9C-A0FCAE1878D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8BE89144-EDA7-29F7-59C0-04243222484A}"/>
              </a:ext>
            </a:extLst>
          </p:cNvPr>
          <p:cNvSpPr>
            <a:spLocks noGrp="1"/>
          </p:cNvSpPr>
          <p:nvPr>
            <p:ph type="dt" sz="half" idx="10"/>
          </p:nvPr>
        </p:nvSpPr>
        <p:spPr/>
        <p:txBody>
          <a:bodyPr/>
          <a:lstStyle/>
          <a:p>
            <a:fld id="{5B52891A-2B39-4C89-8475-2D449E5FE979}" type="datetimeFigureOut">
              <a:rPr lang="en-IN" smtClean="0"/>
              <a:t>08-11-2025</a:t>
            </a:fld>
            <a:endParaRPr lang="en-IN"/>
          </a:p>
        </p:txBody>
      </p:sp>
      <p:sp>
        <p:nvSpPr>
          <p:cNvPr id="6" name="Footer Placeholder 5">
            <a:extLst>
              <a:ext uri="{FF2B5EF4-FFF2-40B4-BE49-F238E27FC236}">
                <a16:creationId xmlns:a16="http://schemas.microsoft.com/office/drawing/2014/main" id="{988856A7-F38B-1AE5-B928-66C2B5BC70A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3152F8B-A0F5-F0DD-C63D-1D3024EA6C92}"/>
              </a:ext>
            </a:extLst>
          </p:cNvPr>
          <p:cNvSpPr>
            <a:spLocks noGrp="1"/>
          </p:cNvSpPr>
          <p:nvPr>
            <p:ph type="sldNum" sz="quarter" idx="12"/>
          </p:nvPr>
        </p:nvSpPr>
        <p:spPr/>
        <p:txBody>
          <a:bodyPr/>
          <a:lstStyle/>
          <a:p>
            <a:fld id="{F08472FA-43B0-4627-B785-020F90277080}" type="slidenum">
              <a:rPr lang="en-IN" smtClean="0"/>
              <a:t>‹#›</a:t>
            </a:fld>
            <a:endParaRPr lang="en-IN"/>
          </a:p>
        </p:txBody>
      </p:sp>
    </p:spTree>
    <p:extLst>
      <p:ext uri="{BB962C8B-B14F-4D97-AF65-F5344CB8AC3E}">
        <p14:creationId xmlns:p14="http://schemas.microsoft.com/office/powerpoint/2010/main" val="8427401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138DA6-1D31-C6BB-F800-B96E584B31DD}"/>
              </a:ext>
            </a:extLst>
          </p:cNvPr>
          <p:cNvSpPr>
            <a:spLocks noGrp="1"/>
          </p:cNvSpPr>
          <p:nvPr>
            <p:ph type="title"/>
          </p:nvPr>
        </p:nvSpPr>
        <p:spPr/>
        <p:txBody>
          <a:bodyPr/>
          <a:lstStyle/>
          <a:p>
            <a:r>
              <a:rPr lang="en-GB"/>
              <a:t>Click to edit Master title style</a:t>
            </a:r>
            <a:endParaRPr lang="en-IN"/>
          </a:p>
        </p:txBody>
      </p:sp>
      <p:sp>
        <p:nvSpPr>
          <p:cNvPr id="3" name="Vertical Text Placeholder 2">
            <a:extLst>
              <a:ext uri="{FF2B5EF4-FFF2-40B4-BE49-F238E27FC236}">
                <a16:creationId xmlns:a16="http://schemas.microsoft.com/office/drawing/2014/main" id="{9909A9AD-4215-7D87-36FE-7294EA94C855}"/>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Date Placeholder 3">
            <a:extLst>
              <a:ext uri="{FF2B5EF4-FFF2-40B4-BE49-F238E27FC236}">
                <a16:creationId xmlns:a16="http://schemas.microsoft.com/office/drawing/2014/main" id="{E36540F8-EBFA-0C95-88FA-D25D29B70924}"/>
              </a:ext>
            </a:extLst>
          </p:cNvPr>
          <p:cNvSpPr>
            <a:spLocks noGrp="1"/>
          </p:cNvSpPr>
          <p:nvPr>
            <p:ph type="dt" sz="half" idx="10"/>
          </p:nvPr>
        </p:nvSpPr>
        <p:spPr/>
        <p:txBody>
          <a:bodyPr/>
          <a:lstStyle/>
          <a:p>
            <a:fld id="{5B52891A-2B39-4C89-8475-2D449E5FE979}" type="datetimeFigureOut">
              <a:rPr lang="en-IN" smtClean="0"/>
              <a:t>08-11-2025</a:t>
            </a:fld>
            <a:endParaRPr lang="en-IN"/>
          </a:p>
        </p:txBody>
      </p:sp>
      <p:sp>
        <p:nvSpPr>
          <p:cNvPr id="5" name="Footer Placeholder 4">
            <a:extLst>
              <a:ext uri="{FF2B5EF4-FFF2-40B4-BE49-F238E27FC236}">
                <a16:creationId xmlns:a16="http://schemas.microsoft.com/office/drawing/2014/main" id="{620E59BB-24A6-5592-17D5-261E6DE4DDC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C54D0FB-310F-3B55-289D-75833E2BEF03}"/>
              </a:ext>
            </a:extLst>
          </p:cNvPr>
          <p:cNvSpPr>
            <a:spLocks noGrp="1"/>
          </p:cNvSpPr>
          <p:nvPr>
            <p:ph type="sldNum" sz="quarter" idx="12"/>
          </p:nvPr>
        </p:nvSpPr>
        <p:spPr/>
        <p:txBody>
          <a:bodyPr/>
          <a:lstStyle/>
          <a:p>
            <a:fld id="{F08472FA-43B0-4627-B785-020F90277080}" type="slidenum">
              <a:rPr lang="en-IN" smtClean="0"/>
              <a:t>‹#›</a:t>
            </a:fld>
            <a:endParaRPr lang="en-IN"/>
          </a:p>
        </p:txBody>
      </p:sp>
    </p:spTree>
    <p:extLst>
      <p:ext uri="{BB962C8B-B14F-4D97-AF65-F5344CB8AC3E}">
        <p14:creationId xmlns:p14="http://schemas.microsoft.com/office/powerpoint/2010/main" val="6049295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B8B072C-3C04-900F-7391-6418D866B85A}"/>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IN"/>
          </a:p>
        </p:txBody>
      </p:sp>
      <p:sp>
        <p:nvSpPr>
          <p:cNvPr id="3" name="Vertical Text Placeholder 2">
            <a:extLst>
              <a:ext uri="{FF2B5EF4-FFF2-40B4-BE49-F238E27FC236}">
                <a16:creationId xmlns:a16="http://schemas.microsoft.com/office/drawing/2014/main" id="{E1BCE0D7-012F-0313-3ECA-C3A51BF8A200}"/>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Date Placeholder 3">
            <a:extLst>
              <a:ext uri="{FF2B5EF4-FFF2-40B4-BE49-F238E27FC236}">
                <a16:creationId xmlns:a16="http://schemas.microsoft.com/office/drawing/2014/main" id="{43CCE157-41A5-052F-3C54-0D6C1CD99582}"/>
              </a:ext>
            </a:extLst>
          </p:cNvPr>
          <p:cNvSpPr>
            <a:spLocks noGrp="1"/>
          </p:cNvSpPr>
          <p:nvPr>
            <p:ph type="dt" sz="half" idx="10"/>
          </p:nvPr>
        </p:nvSpPr>
        <p:spPr/>
        <p:txBody>
          <a:bodyPr/>
          <a:lstStyle/>
          <a:p>
            <a:fld id="{5B52891A-2B39-4C89-8475-2D449E5FE979}" type="datetimeFigureOut">
              <a:rPr lang="en-IN" smtClean="0"/>
              <a:t>08-11-2025</a:t>
            </a:fld>
            <a:endParaRPr lang="en-IN"/>
          </a:p>
        </p:txBody>
      </p:sp>
      <p:sp>
        <p:nvSpPr>
          <p:cNvPr id="5" name="Footer Placeholder 4">
            <a:extLst>
              <a:ext uri="{FF2B5EF4-FFF2-40B4-BE49-F238E27FC236}">
                <a16:creationId xmlns:a16="http://schemas.microsoft.com/office/drawing/2014/main" id="{C8F73FBE-7DF6-F922-5591-F86A5A8E712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985878C-E8CF-B93B-2C02-542A0833380D}"/>
              </a:ext>
            </a:extLst>
          </p:cNvPr>
          <p:cNvSpPr>
            <a:spLocks noGrp="1"/>
          </p:cNvSpPr>
          <p:nvPr>
            <p:ph type="sldNum" sz="quarter" idx="12"/>
          </p:nvPr>
        </p:nvSpPr>
        <p:spPr/>
        <p:txBody>
          <a:bodyPr/>
          <a:lstStyle/>
          <a:p>
            <a:fld id="{F08472FA-43B0-4627-B785-020F90277080}" type="slidenum">
              <a:rPr lang="en-IN" smtClean="0"/>
              <a:t>‹#›</a:t>
            </a:fld>
            <a:endParaRPr lang="en-IN"/>
          </a:p>
        </p:txBody>
      </p:sp>
    </p:spTree>
    <p:extLst>
      <p:ext uri="{BB962C8B-B14F-4D97-AF65-F5344CB8AC3E}">
        <p14:creationId xmlns:p14="http://schemas.microsoft.com/office/powerpoint/2010/main" val="17144632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2227496-BCDC-CCB9-58BD-5B2574DA446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IN"/>
          </a:p>
        </p:txBody>
      </p:sp>
      <p:sp>
        <p:nvSpPr>
          <p:cNvPr id="3" name="Text Placeholder 2">
            <a:extLst>
              <a:ext uri="{FF2B5EF4-FFF2-40B4-BE49-F238E27FC236}">
                <a16:creationId xmlns:a16="http://schemas.microsoft.com/office/drawing/2014/main" id="{6CFE8609-EB58-2323-79F8-662CB01B718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Date Placeholder 3">
            <a:extLst>
              <a:ext uri="{FF2B5EF4-FFF2-40B4-BE49-F238E27FC236}">
                <a16:creationId xmlns:a16="http://schemas.microsoft.com/office/drawing/2014/main" id="{22C11392-278E-DB05-D08A-CF9C56E5F69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52891A-2B39-4C89-8475-2D449E5FE979}" type="datetimeFigureOut">
              <a:rPr lang="en-IN" smtClean="0"/>
              <a:t>08-11-2025</a:t>
            </a:fld>
            <a:endParaRPr lang="en-IN"/>
          </a:p>
        </p:txBody>
      </p:sp>
      <p:sp>
        <p:nvSpPr>
          <p:cNvPr id="5" name="Footer Placeholder 4">
            <a:extLst>
              <a:ext uri="{FF2B5EF4-FFF2-40B4-BE49-F238E27FC236}">
                <a16:creationId xmlns:a16="http://schemas.microsoft.com/office/drawing/2014/main" id="{1067AA3F-0581-366F-56BC-06D6A04CB49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177E0FFD-69EA-1CD1-1D13-1C54CD60FE0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08472FA-43B0-4627-B785-020F90277080}" type="slidenum">
              <a:rPr lang="en-IN" smtClean="0"/>
              <a:t>‹#›</a:t>
            </a:fld>
            <a:endParaRPr lang="en-IN"/>
          </a:p>
        </p:txBody>
      </p:sp>
    </p:spTree>
    <p:extLst>
      <p:ext uri="{BB962C8B-B14F-4D97-AF65-F5344CB8AC3E}">
        <p14:creationId xmlns:p14="http://schemas.microsoft.com/office/powerpoint/2010/main" val="390466206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github.com/satyaa6969/MindScribe" TargetMode="External"/><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6.jpeg"/><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8.jp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400903-523B-CF0F-D81B-DB2EFE66A6A6}"/>
              </a:ext>
            </a:extLst>
          </p:cNvPr>
          <p:cNvSpPr>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1AFCAC67-3E76-CE3B-AAA6-59928A477062}"/>
              </a:ext>
            </a:extLst>
          </p:cNvPr>
          <p:cNvSpPr>
            <a:spLocks noGrp="1"/>
          </p:cNvSpPr>
          <p:nvPr>
            <p:ph type="subTitle" idx="1"/>
          </p:nvPr>
        </p:nvSpPr>
        <p:spPr/>
        <p:txBody>
          <a:bodyPr/>
          <a:lstStyle/>
          <a:p>
            <a:endParaRPr lang="en-IN"/>
          </a:p>
        </p:txBody>
      </p:sp>
      <p:sp>
        <p:nvSpPr>
          <p:cNvPr id="4" name="Rectangle 3">
            <a:extLst>
              <a:ext uri="{FF2B5EF4-FFF2-40B4-BE49-F238E27FC236}">
                <a16:creationId xmlns:a16="http://schemas.microsoft.com/office/drawing/2014/main" id="{6E40546F-B47F-553E-BC52-A60B5166F57B}"/>
              </a:ext>
            </a:extLst>
          </p:cNvPr>
          <p:cNvSpPr/>
          <p:nvPr/>
        </p:nvSpPr>
        <p:spPr>
          <a:xfrm>
            <a:off x="0" y="0"/>
            <a:ext cx="12192000" cy="6858000"/>
          </a:xfrm>
          <a:prstGeom prst="rect">
            <a:avLst/>
          </a:prstGeom>
          <a:solidFill>
            <a:schemeClr val="accent5">
              <a:lumMod val="60000"/>
              <a:lumOff val="4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sp>
        <p:nvSpPr>
          <p:cNvPr id="7" name="TextBox 6">
            <a:extLst>
              <a:ext uri="{FF2B5EF4-FFF2-40B4-BE49-F238E27FC236}">
                <a16:creationId xmlns:a16="http://schemas.microsoft.com/office/drawing/2014/main" id="{B1642550-059B-5097-056C-95C30C410E49}"/>
              </a:ext>
            </a:extLst>
          </p:cNvPr>
          <p:cNvSpPr txBox="1"/>
          <p:nvPr/>
        </p:nvSpPr>
        <p:spPr>
          <a:xfrm>
            <a:off x="3045786" y="2550478"/>
            <a:ext cx="5309174" cy="1200329"/>
          </a:xfrm>
          <a:prstGeom prst="rect">
            <a:avLst/>
          </a:prstGeom>
          <a:noFill/>
        </p:spPr>
        <p:txBody>
          <a:bodyPr wrap="square" rtlCol="0">
            <a:spAutoFit/>
          </a:bodyPr>
          <a:lstStyle/>
          <a:p>
            <a:r>
              <a:rPr lang="en-IN" sz="7200" b="1" dirty="0">
                <a:solidFill>
                  <a:schemeClr val="bg1"/>
                </a:solidFill>
                <a:latin typeface="Metropolis" panose="00000500000000000000" pitchFamily="50" charset="0"/>
              </a:rPr>
              <a:t>MindScribe</a:t>
            </a:r>
          </a:p>
        </p:txBody>
      </p:sp>
      <p:sp>
        <p:nvSpPr>
          <p:cNvPr id="8" name="TextBox 7">
            <a:extLst>
              <a:ext uri="{FF2B5EF4-FFF2-40B4-BE49-F238E27FC236}">
                <a16:creationId xmlns:a16="http://schemas.microsoft.com/office/drawing/2014/main" id="{EA957983-6E64-DF6F-3457-6F51DC6FB901}"/>
              </a:ext>
            </a:extLst>
          </p:cNvPr>
          <p:cNvSpPr txBox="1"/>
          <p:nvPr/>
        </p:nvSpPr>
        <p:spPr>
          <a:xfrm>
            <a:off x="3045786" y="6119336"/>
            <a:ext cx="5364775" cy="369332"/>
          </a:xfrm>
          <a:prstGeom prst="rect">
            <a:avLst/>
          </a:prstGeom>
          <a:noFill/>
        </p:spPr>
        <p:txBody>
          <a:bodyPr wrap="square" rtlCol="0">
            <a:spAutoFit/>
          </a:bodyPr>
          <a:lstStyle/>
          <a:p>
            <a:r>
              <a:rPr lang="en-IN" b="1" dirty="0">
                <a:solidFill>
                  <a:schemeClr val="bg1"/>
                </a:solidFill>
                <a:latin typeface="Metropolis" panose="00000500000000000000" pitchFamily="50" charset="0"/>
              </a:rPr>
              <a:t>An AI-Powered Emotional Journal Dashboard.</a:t>
            </a:r>
          </a:p>
        </p:txBody>
      </p:sp>
      <p:pic>
        <p:nvPicPr>
          <p:cNvPr id="6" name="Picture 2">
            <a:extLst>
              <a:ext uri="{FF2B5EF4-FFF2-40B4-BE49-F238E27FC236}">
                <a16:creationId xmlns:a16="http://schemas.microsoft.com/office/drawing/2014/main" id="{1A51DBAA-86B6-8DB4-95CA-1D6B49B8C28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08003" y="1399254"/>
            <a:ext cx="3030665" cy="3030665"/>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4ACD307D-201D-2E70-F215-97C6849FA5D7}"/>
              </a:ext>
            </a:extLst>
          </p:cNvPr>
          <p:cNvSpPr txBox="1"/>
          <p:nvPr/>
        </p:nvSpPr>
        <p:spPr>
          <a:xfrm>
            <a:off x="3045786" y="6488668"/>
            <a:ext cx="5364775" cy="369332"/>
          </a:xfrm>
          <a:prstGeom prst="rect">
            <a:avLst/>
          </a:prstGeom>
          <a:noFill/>
        </p:spPr>
        <p:txBody>
          <a:bodyPr wrap="square" rtlCol="0">
            <a:spAutoFit/>
          </a:bodyPr>
          <a:lstStyle/>
          <a:p>
            <a:pPr algn="ctr"/>
            <a:r>
              <a:rPr lang="en-IN" b="1" dirty="0">
                <a:solidFill>
                  <a:schemeClr val="bg1"/>
                </a:solidFill>
                <a:latin typeface="Metropolis" panose="00000500000000000000" pitchFamily="50" charset="0"/>
                <a:hlinkClick r:id="rId3"/>
              </a:rPr>
              <a:t>GitHub </a:t>
            </a:r>
            <a:endParaRPr lang="en-IN" b="1" dirty="0">
              <a:solidFill>
                <a:schemeClr val="bg1"/>
              </a:solidFill>
              <a:latin typeface="Metropolis" panose="00000500000000000000" pitchFamily="50" charset="0"/>
            </a:endParaRPr>
          </a:p>
        </p:txBody>
      </p:sp>
    </p:spTree>
    <p:extLst>
      <p:ext uri="{BB962C8B-B14F-4D97-AF65-F5344CB8AC3E}">
        <p14:creationId xmlns:p14="http://schemas.microsoft.com/office/powerpoint/2010/main" val="38541418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5A6E5C-3A51-32EF-F14F-E692EA9A52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8F7016-0284-1C34-064C-AF1C152E0D48}"/>
              </a:ext>
            </a:extLst>
          </p:cNvPr>
          <p:cNvSpPr>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0BAF538E-8244-CFA6-8C92-172908D5E491}"/>
              </a:ext>
            </a:extLst>
          </p:cNvPr>
          <p:cNvSpPr>
            <a:spLocks noGrp="1"/>
          </p:cNvSpPr>
          <p:nvPr>
            <p:ph type="subTitle" idx="1"/>
          </p:nvPr>
        </p:nvSpPr>
        <p:spPr/>
        <p:txBody>
          <a:bodyPr/>
          <a:lstStyle/>
          <a:p>
            <a:endParaRPr lang="en-IN"/>
          </a:p>
        </p:txBody>
      </p:sp>
      <p:sp>
        <p:nvSpPr>
          <p:cNvPr id="4" name="Rectangle 3">
            <a:extLst>
              <a:ext uri="{FF2B5EF4-FFF2-40B4-BE49-F238E27FC236}">
                <a16:creationId xmlns:a16="http://schemas.microsoft.com/office/drawing/2014/main" id="{F3A3FDDC-0B28-EDDC-C467-2A0CE3EB69EB}"/>
              </a:ext>
            </a:extLst>
          </p:cNvPr>
          <p:cNvSpPr/>
          <p:nvPr/>
        </p:nvSpPr>
        <p:spPr>
          <a:xfrm>
            <a:off x="9832" y="0"/>
            <a:ext cx="12192000" cy="6858000"/>
          </a:xfrm>
          <a:prstGeom prst="rect">
            <a:avLst/>
          </a:prstGeom>
          <a:solidFill>
            <a:schemeClr val="accent5">
              <a:lumMod val="60000"/>
              <a:lumOff val="4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sp>
        <p:nvSpPr>
          <p:cNvPr id="8" name="Rectangle: Rounded Corners 7">
            <a:extLst>
              <a:ext uri="{FF2B5EF4-FFF2-40B4-BE49-F238E27FC236}">
                <a16:creationId xmlns:a16="http://schemas.microsoft.com/office/drawing/2014/main" id="{16F90A5E-08AD-74E6-BBD4-0B76B8E71FAA}"/>
              </a:ext>
            </a:extLst>
          </p:cNvPr>
          <p:cNvSpPr/>
          <p:nvPr/>
        </p:nvSpPr>
        <p:spPr>
          <a:xfrm>
            <a:off x="438911" y="155308"/>
            <a:ext cx="3281885" cy="523220"/>
          </a:xfrm>
          <a:prstGeom prst="roundRect">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3F219956-2321-74D7-D2F1-704B51B26419}"/>
              </a:ext>
            </a:extLst>
          </p:cNvPr>
          <p:cNvSpPr txBox="1"/>
          <p:nvPr/>
        </p:nvSpPr>
        <p:spPr>
          <a:xfrm>
            <a:off x="438911" y="176070"/>
            <a:ext cx="3493991" cy="523220"/>
          </a:xfrm>
          <a:prstGeom prst="rect">
            <a:avLst/>
          </a:prstGeom>
          <a:noFill/>
        </p:spPr>
        <p:txBody>
          <a:bodyPr wrap="square" rtlCol="0">
            <a:spAutoFit/>
          </a:bodyPr>
          <a:lstStyle/>
          <a:p>
            <a:r>
              <a:rPr lang="en-IN" sz="2800" b="1" dirty="0">
                <a:solidFill>
                  <a:schemeClr val="bg1"/>
                </a:solidFill>
                <a:latin typeface="Metropolis" panose="00000500000000000000" pitchFamily="50" charset="0"/>
              </a:rPr>
              <a:t>Project Overview.</a:t>
            </a:r>
          </a:p>
        </p:txBody>
      </p:sp>
      <p:sp>
        <p:nvSpPr>
          <p:cNvPr id="6" name="TextBox 5">
            <a:extLst>
              <a:ext uri="{FF2B5EF4-FFF2-40B4-BE49-F238E27FC236}">
                <a16:creationId xmlns:a16="http://schemas.microsoft.com/office/drawing/2014/main" id="{83CFE827-C9FD-23F5-B00E-0D9603451390}"/>
              </a:ext>
            </a:extLst>
          </p:cNvPr>
          <p:cNvSpPr txBox="1"/>
          <p:nvPr/>
        </p:nvSpPr>
        <p:spPr>
          <a:xfrm>
            <a:off x="438911" y="731657"/>
            <a:ext cx="10881360" cy="2031325"/>
          </a:xfrm>
          <a:prstGeom prst="rect">
            <a:avLst/>
          </a:prstGeom>
          <a:noFill/>
        </p:spPr>
        <p:txBody>
          <a:bodyPr wrap="square" rtlCol="0">
            <a:spAutoFit/>
          </a:bodyPr>
          <a:lstStyle/>
          <a:p>
            <a:r>
              <a:rPr lang="en-US" b="1" dirty="0">
                <a:latin typeface="Metropolis" panose="00000500000000000000" pitchFamily="50" charset="0"/>
              </a:rPr>
              <a:t>What is MindScribe?</a:t>
            </a:r>
          </a:p>
          <a:p>
            <a:br>
              <a:rPr lang="en-US" dirty="0">
                <a:latin typeface="Metropolis" panose="00000500000000000000" pitchFamily="50" charset="0"/>
              </a:rPr>
            </a:br>
            <a:r>
              <a:rPr lang="en-US" dirty="0">
                <a:latin typeface="Metropolis" panose="00000500000000000000" pitchFamily="50" charset="0"/>
              </a:rPr>
              <a:t>MindScribe is a full-stack web application that helps users record and analyze their daily thoughts using AI-powered sentiment analysis. The goal is to promote mental wellness by providing </a:t>
            </a:r>
          </a:p>
          <a:p>
            <a:r>
              <a:rPr lang="en-US" dirty="0">
                <a:latin typeface="Metropolis" panose="00000500000000000000" pitchFamily="50" charset="0"/>
              </a:rPr>
              <a:t>Insights into emotional trends over time.</a:t>
            </a:r>
          </a:p>
          <a:p>
            <a:endParaRPr lang="en-US" dirty="0">
              <a:solidFill>
                <a:schemeClr val="bg1"/>
              </a:solidFill>
              <a:latin typeface="Metropolis" panose="00000500000000000000" pitchFamily="50" charset="0"/>
            </a:endParaRPr>
          </a:p>
          <a:p>
            <a:endParaRPr lang="en-IN" dirty="0"/>
          </a:p>
        </p:txBody>
      </p:sp>
      <p:graphicFrame>
        <p:nvGraphicFramePr>
          <p:cNvPr id="10" name="Chart 9">
            <a:extLst>
              <a:ext uri="{FF2B5EF4-FFF2-40B4-BE49-F238E27FC236}">
                <a16:creationId xmlns:a16="http://schemas.microsoft.com/office/drawing/2014/main" id="{0C1DCB55-AE03-C824-4A36-88FCF45AC47D}"/>
              </a:ext>
            </a:extLst>
          </p:cNvPr>
          <p:cNvGraphicFramePr/>
          <p:nvPr>
            <p:extLst>
              <p:ext uri="{D42A27DB-BD31-4B8C-83A1-F6EECF244321}">
                <p14:modId xmlns:p14="http://schemas.microsoft.com/office/powerpoint/2010/main" val="2072102757"/>
              </p:ext>
            </p:extLst>
          </p:nvPr>
        </p:nvGraphicFramePr>
        <p:xfrm>
          <a:off x="2328606" y="2060017"/>
          <a:ext cx="7534787" cy="4928965"/>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8882737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D2F0A6-FAC7-4156-1C06-539F55CD0A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422DAF-64AC-5B16-06A7-23D8FE7740D5}"/>
              </a:ext>
            </a:extLst>
          </p:cNvPr>
          <p:cNvSpPr>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E2055F7F-EF3A-4B7C-DD13-F9C6CB6C139E}"/>
              </a:ext>
            </a:extLst>
          </p:cNvPr>
          <p:cNvSpPr>
            <a:spLocks noGrp="1"/>
          </p:cNvSpPr>
          <p:nvPr>
            <p:ph type="subTitle" idx="1"/>
          </p:nvPr>
        </p:nvSpPr>
        <p:spPr/>
        <p:txBody>
          <a:bodyPr/>
          <a:lstStyle/>
          <a:p>
            <a:endParaRPr lang="en-IN"/>
          </a:p>
        </p:txBody>
      </p:sp>
      <p:sp>
        <p:nvSpPr>
          <p:cNvPr id="4" name="Rectangle 3">
            <a:extLst>
              <a:ext uri="{FF2B5EF4-FFF2-40B4-BE49-F238E27FC236}">
                <a16:creationId xmlns:a16="http://schemas.microsoft.com/office/drawing/2014/main" id="{69635B7C-27AF-0E06-0AF9-29F756C2D1EB}"/>
              </a:ext>
            </a:extLst>
          </p:cNvPr>
          <p:cNvSpPr/>
          <p:nvPr/>
        </p:nvSpPr>
        <p:spPr>
          <a:xfrm>
            <a:off x="0" y="0"/>
            <a:ext cx="12192000" cy="6858000"/>
          </a:xfrm>
          <a:prstGeom prst="rect">
            <a:avLst/>
          </a:prstGeom>
          <a:solidFill>
            <a:schemeClr val="accent5">
              <a:lumMod val="60000"/>
              <a:lumOff val="4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sp>
        <p:nvSpPr>
          <p:cNvPr id="7" name="Rectangle: Rounded Corners 6">
            <a:extLst>
              <a:ext uri="{FF2B5EF4-FFF2-40B4-BE49-F238E27FC236}">
                <a16:creationId xmlns:a16="http://schemas.microsoft.com/office/drawing/2014/main" id="{B339260D-9C8B-CF22-2E5D-D32CB417C9E4}"/>
              </a:ext>
            </a:extLst>
          </p:cNvPr>
          <p:cNvSpPr/>
          <p:nvPr/>
        </p:nvSpPr>
        <p:spPr>
          <a:xfrm>
            <a:off x="438912" y="331121"/>
            <a:ext cx="6924414" cy="477182"/>
          </a:xfrm>
          <a:prstGeom prst="roundRect">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01E1AE25-CE63-EF4F-8CB7-3890920E04A7}"/>
              </a:ext>
            </a:extLst>
          </p:cNvPr>
          <p:cNvSpPr txBox="1"/>
          <p:nvPr/>
        </p:nvSpPr>
        <p:spPr>
          <a:xfrm>
            <a:off x="422870" y="331121"/>
            <a:ext cx="6651698" cy="523220"/>
          </a:xfrm>
          <a:prstGeom prst="rect">
            <a:avLst/>
          </a:prstGeom>
          <a:noFill/>
        </p:spPr>
        <p:txBody>
          <a:bodyPr wrap="square" rtlCol="0">
            <a:spAutoFit/>
          </a:bodyPr>
          <a:lstStyle/>
          <a:p>
            <a:r>
              <a:rPr lang="en-IN" sz="2800" b="1" dirty="0">
                <a:solidFill>
                  <a:schemeClr val="bg1"/>
                </a:solidFill>
                <a:latin typeface="Metropolis" panose="00000500000000000000" pitchFamily="50" charset="0"/>
              </a:rPr>
              <a:t>Purpose, Introduction &amp; Tech Stack.</a:t>
            </a:r>
          </a:p>
        </p:txBody>
      </p:sp>
      <p:sp>
        <p:nvSpPr>
          <p:cNvPr id="14" name="Rectangle 6">
            <a:extLst>
              <a:ext uri="{FF2B5EF4-FFF2-40B4-BE49-F238E27FC236}">
                <a16:creationId xmlns:a16="http://schemas.microsoft.com/office/drawing/2014/main" id="{FF9E7481-F0F0-BEB9-9E16-3DFFA4712A60}"/>
              </a:ext>
            </a:extLst>
          </p:cNvPr>
          <p:cNvSpPr>
            <a:spLocks noChangeArrowheads="1"/>
          </p:cNvSpPr>
          <p:nvPr/>
        </p:nvSpPr>
        <p:spPr bwMode="auto">
          <a:xfrm>
            <a:off x="369283" y="1225688"/>
            <a:ext cx="8818265" cy="5355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b="1" dirty="0">
                <a:latin typeface="Metropolis" panose="00000500000000000000" pitchFamily="50" charset="0"/>
              </a:rPr>
              <a:t>Purpose:</a:t>
            </a:r>
          </a:p>
          <a:p>
            <a:r>
              <a:rPr lang="en-US" dirty="0">
                <a:latin typeface="Metropolis" panose="00000500000000000000" pitchFamily="50" charset="0"/>
              </a:rPr>
              <a:t>Mental well-being is an important yet often overlooked aspect of life. MindScribe aims to simplify emotional tracking by allowing users to express their thoughts and automatically receive feedback on their emotional tone. This promotes </a:t>
            </a:r>
            <a:r>
              <a:rPr lang="en-US" b="1" dirty="0">
                <a:latin typeface="Metropolis" panose="00000500000000000000" pitchFamily="50" charset="0"/>
              </a:rPr>
              <a:t>self-awareness</a:t>
            </a:r>
            <a:r>
              <a:rPr lang="en-US" dirty="0">
                <a:latin typeface="Metropolis" panose="00000500000000000000" pitchFamily="50" charset="0"/>
              </a:rPr>
              <a:t>, </a:t>
            </a:r>
            <a:r>
              <a:rPr lang="en-US" b="1" dirty="0">
                <a:latin typeface="Metropolis" panose="00000500000000000000" pitchFamily="50" charset="0"/>
              </a:rPr>
              <a:t>reflection</a:t>
            </a:r>
            <a:r>
              <a:rPr lang="en-US" dirty="0">
                <a:latin typeface="Metropolis" panose="00000500000000000000" pitchFamily="50" charset="0"/>
              </a:rPr>
              <a:t>, and </a:t>
            </a:r>
            <a:r>
              <a:rPr lang="en-US" b="1" dirty="0">
                <a:latin typeface="Metropolis" panose="00000500000000000000" pitchFamily="50" charset="0"/>
              </a:rPr>
              <a:t>emotional growth</a:t>
            </a:r>
            <a:r>
              <a:rPr lang="en-US" dirty="0">
                <a:latin typeface="Metropolis" panose="00000500000000000000" pitchFamily="50" charset="0"/>
              </a:rPr>
              <a:t>.</a:t>
            </a:r>
          </a:p>
          <a:p>
            <a:r>
              <a:rPr lang="en-US" b="1" dirty="0">
                <a:latin typeface="Metropolis" panose="00000500000000000000" pitchFamily="50" charset="0"/>
              </a:rPr>
              <a:t>Introduction:</a:t>
            </a:r>
          </a:p>
          <a:p>
            <a:r>
              <a:rPr lang="en-US" dirty="0">
                <a:latin typeface="Metropolis" panose="00000500000000000000" pitchFamily="50" charset="0"/>
              </a:rPr>
              <a:t>When users log their daily entries, the system applies </a:t>
            </a:r>
            <a:r>
              <a:rPr lang="en-US" b="1" dirty="0">
                <a:latin typeface="Metropolis" panose="00000500000000000000" pitchFamily="50" charset="0"/>
              </a:rPr>
              <a:t>Natural Language Processing (NLP)</a:t>
            </a:r>
            <a:r>
              <a:rPr lang="en-US" dirty="0">
                <a:latin typeface="Metropolis" panose="00000500000000000000" pitchFamily="50" charset="0"/>
              </a:rPr>
              <a:t> SpaCy models to detect the emotional tone (Positive, Neutral, or Negative).</a:t>
            </a:r>
            <a:br>
              <a:rPr lang="en-US" dirty="0">
                <a:latin typeface="Metropolis" panose="00000500000000000000" pitchFamily="50" charset="0"/>
              </a:rPr>
            </a:br>
            <a:r>
              <a:rPr lang="en-US" dirty="0">
                <a:latin typeface="Metropolis" panose="00000500000000000000" pitchFamily="50" charset="0"/>
              </a:rPr>
              <a:t>These insights are visualized through mood charts, allowing users to track changes in their mental state over time.</a:t>
            </a:r>
          </a:p>
          <a:p>
            <a:r>
              <a:rPr lang="en-US" dirty="0">
                <a:latin typeface="Metropolis" panose="00000500000000000000" pitchFamily="50" charset="0"/>
              </a:rPr>
              <a:t>The goal is not just journaling — it’s understanding how emotions evolve, helping users identify triggers, patterns, and progress.</a:t>
            </a:r>
          </a:p>
          <a:p>
            <a:r>
              <a:rPr lang="en-US" b="1" dirty="0">
                <a:latin typeface="Metropolis" panose="00000500000000000000" pitchFamily="50" charset="0"/>
              </a:rPr>
              <a:t>Tech Stack:</a:t>
            </a:r>
          </a:p>
          <a:p>
            <a:r>
              <a:rPr lang="en-US" b="1" dirty="0">
                <a:latin typeface="Metropolis" panose="00000500000000000000" pitchFamily="50" charset="0"/>
              </a:rPr>
              <a:t>Frontend:</a:t>
            </a:r>
            <a:r>
              <a:rPr lang="en-US" dirty="0">
                <a:latin typeface="Metropolis" panose="00000500000000000000" pitchFamily="50" charset="0"/>
              </a:rPr>
              <a:t> React.js for dynamic and interactive UI</a:t>
            </a:r>
          </a:p>
          <a:p>
            <a:r>
              <a:rPr lang="en-US" b="1" dirty="0">
                <a:latin typeface="Metropolis" panose="00000500000000000000" pitchFamily="50" charset="0"/>
              </a:rPr>
              <a:t>Styling:</a:t>
            </a:r>
            <a:r>
              <a:rPr lang="en-US" dirty="0">
                <a:latin typeface="Metropolis" panose="00000500000000000000" pitchFamily="50" charset="0"/>
              </a:rPr>
              <a:t> Tailwind CSS for responsive layouts</a:t>
            </a:r>
          </a:p>
          <a:p>
            <a:r>
              <a:rPr lang="en-US" b="1" dirty="0">
                <a:latin typeface="Metropolis" panose="00000500000000000000" pitchFamily="50" charset="0"/>
              </a:rPr>
              <a:t>Backend:</a:t>
            </a:r>
            <a:r>
              <a:rPr lang="en-US" dirty="0">
                <a:latin typeface="Metropolis" panose="00000500000000000000" pitchFamily="50" charset="0"/>
              </a:rPr>
              <a:t> Django REST Framework for robust API endpoints</a:t>
            </a:r>
          </a:p>
          <a:p>
            <a:r>
              <a:rPr lang="en-US" b="1" dirty="0">
                <a:latin typeface="Metropolis" panose="00000500000000000000" pitchFamily="50" charset="0"/>
              </a:rPr>
              <a:t>Database:</a:t>
            </a:r>
            <a:r>
              <a:rPr lang="en-US" dirty="0">
                <a:latin typeface="Metropolis" panose="00000500000000000000" pitchFamily="50" charset="0"/>
              </a:rPr>
              <a:t> PostgreSQL for fast and lightweight data storage</a:t>
            </a:r>
          </a:p>
          <a:p>
            <a:r>
              <a:rPr lang="en-US" b="1" dirty="0">
                <a:latin typeface="Metropolis" panose="00000500000000000000" pitchFamily="50" charset="0"/>
              </a:rPr>
              <a:t>AI/ML:</a:t>
            </a:r>
            <a:r>
              <a:rPr lang="en-US" dirty="0">
                <a:latin typeface="Metropolis" panose="00000500000000000000" pitchFamily="50" charset="0"/>
              </a:rPr>
              <a:t> Sentiment analysis using pretrained SpaCy models</a:t>
            </a:r>
          </a:p>
          <a:p>
            <a:r>
              <a:rPr lang="en-US" b="1" dirty="0">
                <a:latin typeface="Metropolis" panose="00000500000000000000" pitchFamily="50" charset="0"/>
              </a:rPr>
              <a:t>Hosting:</a:t>
            </a:r>
            <a:r>
              <a:rPr lang="en-US" dirty="0">
                <a:latin typeface="Metropolis" panose="00000500000000000000" pitchFamily="50" charset="0"/>
              </a:rPr>
              <a:t> Render (backend </a:t>
            </a:r>
            <a:r>
              <a:rPr lang="en-US">
                <a:latin typeface="Metropolis" panose="00000500000000000000" pitchFamily="50" charset="0"/>
              </a:rPr>
              <a:t>and frontend)</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Rectangle: Rounded Corners 5">
            <a:extLst>
              <a:ext uri="{FF2B5EF4-FFF2-40B4-BE49-F238E27FC236}">
                <a16:creationId xmlns:a16="http://schemas.microsoft.com/office/drawing/2014/main" id="{D334AEFC-704E-FE15-D05D-EFE2BF19A0E5}"/>
              </a:ext>
            </a:extLst>
          </p:cNvPr>
          <p:cNvSpPr/>
          <p:nvPr/>
        </p:nvSpPr>
        <p:spPr>
          <a:xfrm>
            <a:off x="8769096" y="3509963"/>
            <a:ext cx="2578608" cy="2744533"/>
          </a:xfrm>
          <a:prstGeom prst="roundRect">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8" name="Picture 2">
            <a:extLst>
              <a:ext uri="{FF2B5EF4-FFF2-40B4-BE49-F238E27FC236}">
                <a16:creationId xmlns:a16="http://schemas.microsoft.com/office/drawing/2014/main" id="{029B1700-B44F-0870-7487-32D0EB4441E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40401" y="3594349"/>
            <a:ext cx="1778301" cy="1012074"/>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0">
            <a:extLst>
              <a:ext uri="{FF2B5EF4-FFF2-40B4-BE49-F238E27FC236}">
                <a16:creationId xmlns:a16="http://schemas.microsoft.com/office/drawing/2014/main" id="{9AFEEFC4-A961-A126-2F12-7DB94A21244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76477" y="3393608"/>
            <a:ext cx="1806024" cy="901184"/>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EC6B16BA-ACF5-5F51-E8BB-3F3D7468376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09348" y="4668029"/>
            <a:ext cx="1331503" cy="1331503"/>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a:extLst>
              <a:ext uri="{FF2B5EF4-FFF2-40B4-BE49-F238E27FC236}">
                <a16:creationId xmlns:a16="http://schemas.microsoft.com/office/drawing/2014/main" id="{1E17B50F-52D6-BC24-25C7-B3D6566AC93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761681" y="4900877"/>
            <a:ext cx="1331503" cy="1331503"/>
          </a:xfrm>
          <a:prstGeom prst="rect">
            <a:avLst/>
          </a:prstGeom>
          <a:noFill/>
          <a:extLst>
            <a:ext uri="{909E8E84-426E-40DD-AFC4-6F175D3DCCD1}">
              <a14:hiddenFill xmlns:a14="http://schemas.microsoft.com/office/drawing/2010/main">
                <a:solidFill>
                  <a:srgbClr val="FFFFFF"/>
                </a:solidFill>
              </a14:hiddenFill>
            </a:ext>
          </a:extLst>
        </p:spPr>
      </p:pic>
      <p:sp>
        <p:nvSpPr>
          <p:cNvPr id="11" name="AutoShape 6" descr="Render Logo PNG Vector (SVG) Free Download">
            <a:extLst>
              <a:ext uri="{FF2B5EF4-FFF2-40B4-BE49-F238E27FC236}">
                <a16:creationId xmlns:a16="http://schemas.microsoft.com/office/drawing/2014/main" id="{5C61700C-F2D6-90F5-317F-F7D5F2E3B77B}"/>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3" name="AutoShape 8" descr="Render Logo PNG Vector">
            <a:extLst>
              <a:ext uri="{FF2B5EF4-FFF2-40B4-BE49-F238E27FC236}">
                <a16:creationId xmlns:a16="http://schemas.microsoft.com/office/drawing/2014/main" id="{4A92230F-E0E8-E43D-4F4A-C84F29DE1ECE}"/>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036" name="Picture 12" descr="Render 2025 Pricing, Features, Reviews &amp; Alternatives | GetApp">
            <a:extLst>
              <a:ext uri="{FF2B5EF4-FFF2-40B4-BE49-F238E27FC236}">
                <a16:creationId xmlns:a16="http://schemas.microsoft.com/office/drawing/2014/main" id="{77A63A29-2F3E-8E23-AF9F-1046B2C378A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575099" y="4157561"/>
            <a:ext cx="647700" cy="647700"/>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a:extLst>
              <a:ext uri="{FF2B5EF4-FFF2-40B4-BE49-F238E27FC236}">
                <a16:creationId xmlns:a16="http://schemas.microsoft.com/office/drawing/2014/main" id="{83B1FC79-D852-C929-8D11-A1FB578F51C6}"/>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121432" y="4527640"/>
            <a:ext cx="1249151" cy="4469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383964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1C3073-281D-AB19-4EB0-40F3C479E4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CCE642-37C1-DF58-6B4C-3B5CBA24207E}"/>
              </a:ext>
            </a:extLst>
          </p:cNvPr>
          <p:cNvSpPr>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A1D88F31-AAD6-19B8-82F9-7495A9C9D0EC}"/>
              </a:ext>
            </a:extLst>
          </p:cNvPr>
          <p:cNvSpPr>
            <a:spLocks noGrp="1"/>
          </p:cNvSpPr>
          <p:nvPr>
            <p:ph type="subTitle" idx="1"/>
          </p:nvPr>
        </p:nvSpPr>
        <p:spPr/>
        <p:txBody>
          <a:bodyPr/>
          <a:lstStyle/>
          <a:p>
            <a:endParaRPr lang="en-IN"/>
          </a:p>
        </p:txBody>
      </p:sp>
      <p:sp>
        <p:nvSpPr>
          <p:cNvPr id="4" name="Rectangle 3">
            <a:extLst>
              <a:ext uri="{FF2B5EF4-FFF2-40B4-BE49-F238E27FC236}">
                <a16:creationId xmlns:a16="http://schemas.microsoft.com/office/drawing/2014/main" id="{18641E27-DC57-611B-F474-35C3B8D1CDFB}"/>
              </a:ext>
            </a:extLst>
          </p:cNvPr>
          <p:cNvSpPr/>
          <p:nvPr/>
        </p:nvSpPr>
        <p:spPr>
          <a:xfrm>
            <a:off x="0" y="0"/>
            <a:ext cx="12192000" cy="6858000"/>
          </a:xfrm>
          <a:prstGeom prst="rect">
            <a:avLst/>
          </a:prstGeom>
          <a:solidFill>
            <a:schemeClr val="accent5">
              <a:lumMod val="60000"/>
              <a:lumOff val="4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sp>
        <p:nvSpPr>
          <p:cNvPr id="7" name="Rectangle: Rounded Corners 6">
            <a:extLst>
              <a:ext uri="{FF2B5EF4-FFF2-40B4-BE49-F238E27FC236}">
                <a16:creationId xmlns:a16="http://schemas.microsoft.com/office/drawing/2014/main" id="{B576663E-A0B1-C412-2583-F631FB858B2D}"/>
              </a:ext>
            </a:extLst>
          </p:cNvPr>
          <p:cNvSpPr/>
          <p:nvPr/>
        </p:nvSpPr>
        <p:spPr>
          <a:xfrm>
            <a:off x="438912" y="246889"/>
            <a:ext cx="4457553" cy="523220"/>
          </a:xfrm>
          <a:prstGeom prst="roundRect">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4A144DC1-ACF4-8083-681C-A3A8604EC49C}"/>
              </a:ext>
            </a:extLst>
          </p:cNvPr>
          <p:cNvSpPr txBox="1"/>
          <p:nvPr/>
        </p:nvSpPr>
        <p:spPr>
          <a:xfrm>
            <a:off x="438912" y="265890"/>
            <a:ext cx="4673862" cy="523220"/>
          </a:xfrm>
          <a:prstGeom prst="rect">
            <a:avLst/>
          </a:prstGeom>
          <a:noFill/>
        </p:spPr>
        <p:txBody>
          <a:bodyPr wrap="square" rtlCol="0">
            <a:spAutoFit/>
          </a:bodyPr>
          <a:lstStyle/>
          <a:p>
            <a:r>
              <a:rPr lang="en-IN" sz="2800" b="1" dirty="0">
                <a:solidFill>
                  <a:schemeClr val="bg1"/>
                </a:solidFill>
                <a:latin typeface="Metropolis" panose="00000500000000000000" pitchFamily="50" charset="0"/>
              </a:rPr>
              <a:t>Working of the Website.</a:t>
            </a:r>
          </a:p>
        </p:txBody>
      </p:sp>
      <p:sp>
        <p:nvSpPr>
          <p:cNvPr id="6" name="TextBox 5">
            <a:extLst>
              <a:ext uri="{FF2B5EF4-FFF2-40B4-BE49-F238E27FC236}">
                <a16:creationId xmlns:a16="http://schemas.microsoft.com/office/drawing/2014/main" id="{989188D2-843E-0AC8-1FB3-B73806058870}"/>
              </a:ext>
            </a:extLst>
          </p:cNvPr>
          <p:cNvSpPr txBox="1"/>
          <p:nvPr/>
        </p:nvSpPr>
        <p:spPr>
          <a:xfrm>
            <a:off x="438912" y="924382"/>
            <a:ext cx="6409944" cy="5078313"/>
          </a:xfrm>
          <a:prstGeom prst="rect">
            <a:avLst/>
          </a:prstGeom>
          <a:noFill/>
        </p:spPr>
        <p:txBody>
          <a:bodyPr wrap="square" rtlCol="0">
            <a:spAutoFit/>
          </a:bodyPr>
          <a:lstStyle/>
          <a:p>
            <a:r>
              <a:rPr lang="en-US" b="1" dirty="0">
                <a:latin typeface="Metropolis" panose="00000500000000000000" pitchFamily="50" charset="0"/>
              </a:rPr>
              <a:t>User Flow:</a:t>
            </a:r>
          </a:p>
          <a:p>
            <a:r>
              <a:rPr lang="en-US" b="1" dirty="0">
                <a:latin typeface="Metropolis" panose="00000500000000000000" pitchFamily="50" charset="0"/>
              </a:rPr>
              <a:t>User Login / Sign Up:</a:t>
            </a:r>
            <a:r>
              <a:rPr lang="en-US" dirty="0">
                <a:latin typeface="Metropolis" panose="00000500000000000000" pitchFamily="50" charset="0"/>
              </a:rPr>
              <a:t> Users create an account and securely log in to access their personalized dashboard.</a:t>
            </a:r>
          </a:p>
          <a:p>
            <a:r>
              <a:rPr lang="en-US" b="1" dirty="0">
                <a:latin typeface="Metropolis" panose="00000500000000000000" pitchFamily="50" charset="0"/>
              </a:rPr>
              <a:t>Journal Entry:</a:t>
            </a:r>
            <a:r>
              <a:rPr lang="en-US" dirty="0">
                <a:latin typeface="Metropolis" panose="00000500000000000000" pitchFamily="50" charset="0"/>
              </a:rPr>
              <a:t> The user writes about their day, feelings, or events in a simple text box.</a:t>
            </a:r>
          </a:p>
          <a:p>
            <a:endParaRPr lang="en-US" dirty="0">
              <a:latin typeface="Metropolis" panose="00000500000000000000" pitchFamily="50" charset="0"/>
            </a:endParaRPr>
          </a:p>
          <a:p>
            <a:r>
              <a:rPr lang="en-US" b="1" dirty="0">
                <a:latin typeface="Metropolis" panose="00000500000000000000" pitchFamily="50" charset="0"/>
              </a:rPr>
              <a:t>Backend Processing:</a:t>
            </a:r>
            <a:r>
              <a:rPr lang="en-US" dirty="0">
                <a:latin typeface="Metropolis" panose="00000500000000000000" pitchFamily="50" charset="0"/>
              </a:rPr>
              <a:t> When the entry is submitted, it’s sent to the Django backend, where an NLP (SpaCy) model evaluates sentiment and confidence level.</a:t>
            </a:r>
          </a:p>
          <a:p>
            <a:r>
              <a:rPr lang="en-US" b="1" dirty="0">
                <a:latin typeface="Metropolis" panose="00000500000000000000" pitchFamily="50" charset="0"/>
              </a:rPr>
              <a:t>Storage:</a:t>
            </a:r>
            <a:r>
              <a:rPr lang="en-US" dirty="0">
                <a:latin typeface="Metropolis" panose="00000500000000000000" pitchFamily="50" charset="0"/>
              </a:rPr>
              <a:t> Each journal entry, along with its sentiment score, is stored in the database for visualization.</a:t>
            </a:r>
          </a:p>
          <a:p>
            <a:endParaRPr lang="en-US" b="1" dirty="0">
              <a:latin typeface="Metropolis" panose="00000500000000000000" pitchFamily="50" charset="0"/>
            </a:endParaRPr>
          </a:p>
          <a:p>
            <a:r>
              <a:rPr lang="en-US" b="1" dirty="0">
                <a:latin typeface="Metropolis" panose="00000500000000000000" pitchFamily="50" charset="0"/>
              </a:rPr>
              <a:t>Interface Description:</a:t>
            </a:r>
          </a:p>
          <a:p>
            <a:r>
              <a:rPr lang="en-US" dirty="0">
                <a:latin typeface="Metropolis" panose="00000500000000000000" pitchFamily="50" charset="0"/>
              </a:rPr>
              <a:t>A clean dashboard displaying total entries, sentiment distribution, and quick access to new journal creation.</a:t>
            </a:r>
          </a:p>
          <a:p>
            <a:r>
              <a:rPr lang="en-US" dirty="0">
                <a:latin typeface="Metropolis" panose="00000500000000000000" pitchFamily="50" charset="0"/>
              </a:rPr>
              <a:t>The interface emphasizes simplicity and emotional expression.</a:t>
            </a:r>
          </a:p>
          <a:p>
            <a:endParaRPr lang="en-IN" dirty="0"/>
          </a:p>
        </p:txBody>
      </p:sp>
      <p:pic>
        <p:nvPicPr>
          <p:cNvPr id="9" name="Picture 8">
            <a:extLst>
              <a:ext uri="{FF2B5EF4-FFF2-40B4-BE49-F238E27FC236}">
                <a16:creationId xmlns:a16="http://schemas.microsoft.com/office/drawing/2014/main" id="{AC9519A2-C580-3FDF-369B-E38D8CD173A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830319" y="106914"/>
            <a:ext cx="2476222" cy="2958454"/>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16" name="Picture 15">
            <a:extLst>
              <a:ext uri="{FF2B5EF4-FFF2-40B4-BE49-F238E27FC236}">
                <a16:creationId xmlns:a16="http://schemas.microsoft.com/office/drawing/2014/main" id="{1413AFEE-1CA3-16A1-64D2-1247865A73C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39082" y="3792633"/>
            <a:ext cx="5162691" cy="2636162"/>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14883474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6C467E-8CEE-E6CC-7165-9635E17D29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332974-2ADD-B745-7358-B48D8116BA9E}"/>
              </a:ext>
            </a:extLst>
          </p:cNvPr>
          <p:cNvSpPr>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72FDA12C-8662-008E-230C-05E0FA320B20}"/>
              </a:ext>
            </a:extLst>
          </p:cNvPr>
          <p:cNvSpPr>
            <a:spLocks noGrp="1"/>
          </p:cNvSpPr>
          <p:nvPr>
            <p:ph type="subTitle" idx="1"/>
          </p:nvPr>
        </p:nvSpPr>
        <p:spPr/>
        <p:txBody>
          <a:bodyPr/>
          <a:lstStyle/>
          <a:p>
            <a:endParaRPr lang="en-IN"/>
          </a:p>
        </p:txBody>
      </p:sp>
      <p:sp>
        <p:nvSpPr>
          <p:cNvPr id="4" name="Rectangle 3">
            <a:extLst>
              <a:ext uri="{FF2B5EF4-FFF2-40B4-BE49-F238E27FC236}">
                <a16:creationId xmlns:a16="http://schemas.microsoft.com/office/drawing/2014/main" id="{31C318D1-FBB8-D839-9F5F-B9D88E264490}"/>
              </a:ext>
            </a:extLst>
          </p:cNvPr>
          <p:cNvSpPr/>
          <p:nvPr/>
        </p:nvSpPr>
        <p:spPr>
          <a:xfrm>
            <a:off x="0" y="0"/>
            <a:ext cx="12192000" cy="6858000"/>
          </a:xfrm>
          <a:prstGeom prst="rect">
            <a:avLst/>
          </a:prstGeom>
          <a:solidFill>
            <a:schemeClr val="accent5">
              <a:lumMod val="60000"/>
              <a:lumOff val="4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sp>
        <p:nvSpPr>
          <p:cNvPr id="6" name="TextBox 5">
            <a:extLst>
              <a:ext uri="{FF2B5EF4-FFF2-40B4-BE49-F238E27FC236}">
                <a16:creationId xmlns:a16="http://schemas.microsoft.com/office/drawing/2014/main" id="{687F4999-76FB-018F-10DB-D4265A807630}"/>
              </a:ext>
            </a:extLst>
          </p:cNvPr>
          <p:cNvSpPr txBox="1"/>
          <p:nvPr/>
        </p:nvSpPr>
        <p:spPr>
          <a:xfrm>
            <a:off x="411480" y="1038235"/>
            <a:ext cx="5684520" cy="923330"/>
          </a:xfrm>
          <a:prstGeom prst="rect">
            <a:avLst/>
          </a:prstGeom>
          <a:noFill/>
        </p:spPr>
        <p:txBody>
          <a:bodyPr wrap="square" rtlCol="0">
            <a:spAutoFit/>
          </a:bodyPr>
          <a:lstStyle/>
          <a:p>
            <a:endParaRPr lang="en-IN" dirty="0">
              <a:solidFill>
                <a:schemeClr val="bg1"/>
              </a:solidFill>
              <a:latin typeface="Metropolis" panose="00000500000000000000" pitchFamily="50" charset="0"/>
            </a:endParaRPr>
          </a:p>
          <a:p>
            <a:endParaRPr lang="en-IN" dirty="0">
              <a:solidFill>
                <a:schemeClr val="bg1"/>
              </a:solidFill>
              <a:latin typeface="Metropolis" panose="00000500000000000000" pitchFamily="50" charset="0"/>
            </a:endParaRPr>
          </a:p>
          <a:p>
            <a:endParaRPr lang="en-IN" dirty="0"/>
          </a:p>
        </p:txBody>
      </p:sp>
      <p:sp>
        <p:nvSpPr>
          <p:cNvPr id="7" name="TextBox 6">
            <a:extLst>
              <a:ext uri="{FF2B5EF4-FFF2-40B4-BE49-F238E27FC236}">
                <a16:creationId xmlns:a16="http://schemas.microsoft.com/office/drawing/2014/main" id="{809F06C7-4C7B-5BBD-469F-63AA6F97AB70}"/>
              </a:ext>
            </a:extLst>
          </p:cNvPr>
          <p:cNvSpPr txBox="1"/>
          <p:nvPr/>
        </p:nvSpPr>
        <p:spPr>
          <a:xfrm>
            <a:off x="66419" y="1098714"/>
            <a:ext cx="8443845" cy="5355312"/>
          </a:xfrm>
          <a:prstGeom prst="rect">
            <a:avLst/>
          </a:prstGeom>
          <a:noFill/>
        </p:spPr>
        <p:txBody>
          <a:bodyPr wrap="square" rtlCol="0">
            <a:spAutoFit/>
          </a:bodyPr>
          <a:lstStyle/>
          <a:p>
            <a:r>
              <a:rPr lang="en-US" b="1" dirty="0">
                <a:latin typeface="Metropolis" panose="00000500000000000000" pitchFamily="50" charset="0"/>
              </a:rPr>
              <a:t>Features &amp; Functionality:</a:t>
            </a:r>
          </a:p>
          <a:p>
            <a:r>
              <a:rPr lang="en-US" b="1" dirty="0">
                <a:latin typeface="Metropolis" panose="00000500000000000000" pitchFamily="50" charset="0"/>
              </a:rPr>
              <a:t>Sentiment Trend Visualization:</a:t>
            </a:r>
            <a:br>
              <a:rPr lang="en-US" dirty="0">
                <a:latin typeface="Metropolis" panose="00000500000000000000" pitchFamily="50" charset="0"/>
              </a:rPr>
            </a:br>
            <a:r>
              <a:rPr lang="en-US" dirty="0">
                <a:latin typeface="Metropolis" panose="00000500000000000000" pitchFamily="50" charset="0"/>
              </a:rPr>
              <a:t>Displays an interactive line chart that shows how the user’s emotional state changes day-by-day.</a:t>
            </a:r>
          </a:p>
          <a:p>
            <a:r>
              <a:rPr lang="en-US" b="1" dirty="0">
                <a:latin typeface="Metropolis" panose="00000500000000000000" pitchFamily="50" charset="0"/>
              </a:rPr>
              <a:t>Mood Distribution Chart:</a:t>
            </a:r>
            <a:br>
              <a:rPr lang="en-US" dirty="0">
                <a:latin typeface="Metropolis" panose="00000500000000000000" pitchFamily="50" charset="0"/>
              </a:rPr>
            </a:br>
            <a:r>
              <a:rPr lang="en-US" dirty="0">
                <a:latin typeface="Metropolis" panose="00000500000000000000" pitchFamily="50" charset="0"/>
              </a:rPr>
              <a:t>A pie chart categorizes all entries into Positive, Negative, or Neutral, helping users understand their emotional balance.</a:t>
            </a:r>
          </a:p>
          <a:p>
            <a:r>
              <a:rPr lang="en-US" b="1" dirty="0">
                <a:latin typeface="Metropolis" panose="00000500000000000000" pitchFamily="50" charset="0"/>
              </a:rPr>
              <a:t>Recent Entries:</a:t>
            </a:r>
            <a:br>
              <a:rPr lang="en-US" dirty="0">
                <a:latin typeface="Metropolis" panose="00000500000000000000" pitchFamily="50" charset="0"/>
              </a:rPr>
            </a:br>
            <a:r>
              <a:rPr lang="en-US" dirty="0">
                <a:latin typeface="Metropolis" panose="00000500000000000000" pitchFamily="50" charset="0"/>
              </a:rPr>
              <a:t>Shows a chronological list of journal logs, each labeled with its sentiment and confidence score.</a:t>
            </a:r>
          </a:p>
          <a:p>
            <a:r>
              <a:rPr lang="en-US" b="1" dirty="0">
                <a:latin typeface="Metropolis" panose="00000500000000000000" pitchFamily="50" charset="0"/>
              </a:rPr>
              <a:t>Responsive Design:</a:t>
            </a:r>
            <a:br>
              <a:rPr lang="en-US" dirty="0">
                <a:latin typeface="Metropolis" panose="00000500000000000000" pitchFamily="50" charset="0"/>
              </a:rPr>
            </a:br>
            <a:r>
              <a:rPr lang="en-US" dirty="0">
                <a:latin typeface="Metropolis" panose="00000500000000000000" pitchFamily="50" charset="0"/>
              </a:rPr>
              <a:t>The dashboard automatically adjusts to different screen sizes, providing a consistent experience across devices.</a:t>
            </a:r>
          </a:p>
          <a:p>
            <a:r>
              <a:rPr lang="en-US" b="1" dirty="0">
                <a:latin typeface="Metropolis" panose="00000500000000000000" pitchFamily="50" charset="0"/>
              </a:rPr>
              <a:t>Technical Flow:</a:t>
            </a:r>
          </a:p>
          <a:p>
            <a:r>
              <a:rPr lang="en-US" dirty="0">
                <a:latin typeface="Metropolis" panose="00000500000000000000" pitchFamily="50" charset="0"/>
              </a:rPr>
              <a:t>React components fetch sentiment data via REST API.</a:t>
            </a:r>
          </a:p>
          <a:p>
            <a:r>
              <a:rPr lang="en-US" dirty="0">
                <a:latin typeface="Metropolis" panose="00000500000000000000" pitchFamily="50" charset="0"/>
              </a:rPr>
              <a:t>Data is processed and passed to chart libraries for visualization.</a:t>
            </a:r>
          </a:p>
          <a:p>
            <a:r>
              <a:rPr lang="en-US" dirty="0">
                <a:latin typeface="Metropolis" panose="00000500000000000000" pitchFamily="50" charset="0"/>
              </a:rPr>
              <a:t>Any new journal instantly updates the dashboard through re-rendering.</a:t>
            </a:r>
          </a:p>
          <a:p>
            <a:endParaRPr lang="en-IN" dirty="0">
              <a:solidFill>
                <a:schemeClr val="bg1"/>
              </a:solidFill>
              <a:latin typeface="Metropolis" panose="00000500000000000000" pitchFamily="50" charset="0"/>
            </a:endParaRPr>
          </a:p>
          <a:p>
            <a:endParaRPr lang="en-IN" dirty="0"/>
          </a:p>
        </p:txBody>
      </p:sp>
      <p:sp>
        <p:nvSpPr>
          <p:cNvPr id="10" name="Rectangle: Rounded Corners 9">
            <a:extLst>
              <a:ext uri="{FF2B5EF4-FFF2-40B4-BE49-F238E27FC236}">
                <a16:creationId xmlns:a16="http://schemas.microsoft.com/office/drawing/2014/main" id="{FB03ACAA-42B4-F057-ED89-EACCD544429C}"/>
              </a:ext>
            </a:extLst>
          </p:cNvPr>
          <p:cNvSpPr/>
          <p:nvPr/>
        </p:nvSpPr>
        <p:spPr>
          <a:xfrm>
            <a:off x="438912" y="246889"/>
            <a:ext cx="4457553" cy="523220"/>
          </a:xfrm>
          <a:prstGeom prst="roundRect">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C8EC8550-5CAD-05CD-4A1D-C378B5060063}"/>
              </a:ext>
            </a:extLst>
          </p:cNvPr>
          <p:cNvSpPr txBox="1"/>
          <p:nvPr/>
        </p:nvSpPr>
        <p:spPr>
          <a:xfrm>
            <a:off x="438912" y="265890"/>
            <a:ext cx="4673862" cy="523220"/>
          </a:xfrm>
          <a:prstGeom prst="rect">
            <a:avLst/>
          </a:prstGeom>
          <a:noFill/>
        </p:spPr>
        <p:txBody>
          <a:bodyPr wrap="square" rtlCol="0">
            <a:spAutoFit/>
          </a:bodyPr>
          <a:lstStyle/>
          <a:p>
            <a:r>
              <a:rPr lang="en-IN" sz="2800" b="1" dirty="0">
                <a:solidFill>
                  <a:schemeClr val="bg1"/>
                </a:solidFill>
                <a:latin typeface="Metropolis" panose="00000500000000000000" pitchFamily="50" charset="0"/>
              </a:rPr>
              <a:t>Working of the Website.</a:t>
            </a:r>
          </a:p>
        </p:txBody>
      </p:sp>
      <p:pic>
        <p:nvPicPr>
          <p:cNvPr id="12" name="Picture 11">
            <a:extLst>
              <a:ext uri="{FF2B5EF4-FFF2-40B4-BE49-F238E27FC236}">
                <a16:creationId xmlns:a16="http://schemas.microsoft.com/office/drawing/2014/main" id="{619D1A04-AD81-2323-41D9-D4887C2D4EF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42387" y="106067"/>
            <a:ext cx="3007489" cy="2032592"/>
          </a:xfrm>
          <a:prstGeom prst="rect">
            <a:avLst/>
          </a:prstGeom>
          <a:ln>
            <a:noFill/>
          </a:ln>
          <a:effectLst>
            <a:outerShdw blurRad="292100" dist="139700" dir="2700000" algn="tl" rotWithShape="0">
              <a:srgbClr val="333333">
                <a:alpha val="65000"/>
              </a:srgbClr>
            </a:outerShdw>
          </a:effectLst>
        </p:spPr>
      </p:pic>
      <p:pic>
        <p:nvPicPr>
          <p:cNvPr id="14" name="Picture 13">
            <a:extLst>
              <a:ext uri="{FF2B5EF4-FFF2-40B4-BE49-F238E27FC236}">
                <a16:creationId xmlns:a16="http://schemas.microsoft.com/office/drawing/2014/main" id="{3E7AFE26-9018-C3F1-4C8F-379C803DB34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64715" y="2405812"/>
            <a:ext cx="3778769" cy="2487198"/>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8873845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93027E-90E0-36F9-9E03-F19AC2EFB6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2D1D03-4B0D-7CF0-56A7-61CA6B1AA022}"/>
              </a:ext>
            </a:extLst>
          </p:cNvPr>
          <p:cNvSpPr>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177D8842-2C3D-AF29-049F-70AB43EB419C}"/>
              </a:ext>
            </a:extLst>
          </p:cNvPr>
          <p:cNvSpPr>
            <a:spLocks noGrp="1"/>
          </p:cNvSpPr>
          <p:nvPr>
            <p:ph type="subTitle" idx="1"/>
          </p:nvPr>
        </p:nvSpPr>
        <p:spPr/>
        <p:txBody>
          <a:bodyPr/>
          <a:lstStyle/>
          <a:p>
            <a:endParaRPr lang="en-IN"/>
          </a:p>
        </p:txBody>
      </p:sp>
      <p:sp>
        <p:nvSpPr>
          <p:cNvPr id="4" name="Rectangle 3">
            <a:extLst>
              <a:ext uri="{FF2B5EF4-FFF2-40B4-BE49-F238E27FC236}">
                <a16:creationId xmlns:a16="http://schemas.microsoft.com/office/drawing/2014/main" id="{40DB07AB-C4F3-4371-63D4-0AE3E6CED32D}"/>
              </a:ext>
            </a:extLst>
          </p:cNvPr>
          <p:cNvSpPr/>
          <p:nvPr/>
        </p:nvSpPr>
        <p:spPr>
          <a:xfrm>
            <a:off x="0" y="0"/>
            <a:ext cx="12192000" cy="6858000"/>
          </a:xfrm>
          <a:prstGeom prst="rect">
            <a:avLst/>
          </a:prstGeom>
          <a:solidFill>
            <a:schemeClr val="accent5">
              <a:lumMod val="60000"/>
              <a:lumOff val="4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sp>
        <p:nvSpPr>
          <p:cNvPr id="6" name="Rectangle: Rounded Corners 5">
            <a:extLst>
              <a:ext uri="{FF2B5EF4-FFF2-40B4-BE49-F238E27FC236}">
                <a16:creationId xmlns:a16="http://schemas.microsoft.com/office/drawing/2014/main" id="{FAFAA6FB-172D-E1D7-AEDA-3C90F96567D7}"/>
              </a:ext>
            </a:extLst>
          </p:cNvPr>
          <p:cNvSpPr/>
          <p:nvPr/>
        </p:nvSpPr>
        <p:spPr>
          <a:xfrm>
            <a:off x="342801" y="458594"/>
            <a:ext cx="2362397" cy="523221"/>
          </a:xfrm>
          <a:prstGeom prst="roundRect">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F9104C70-D31C-F187-790B-1F4BEA99C145}"/>
              </a:ext>
            </a:extLst>
          </p:cNvPr>
          <p:cNvSpPr txBox="1"/>
          <p:nvPr/>
        </p:nvSpPr>
        <p:spPr>
          <a:xfrm>
            <a:off x="342801" y="479744"/>
            <a:ext cx="2240771" cy="523220"/>
          </a:xfrm>
          <a:prstGeom prst="rect">
            <a:avLst/>
          </a:prstGeom>
          <a:noFill/>
        </p:spPr>
        <p:txBody>
          <a:bodyPr wrap="square" rtlCol="0">
            <a:spAutoFit/>
          </a:bodyPr>
          <a:lstStyle/>
          <a:p>
            <a:r>
              <a:rPr lang="en-IN" sz="2800" b="1" dirty="0">
                <a:solidFill>
                  <a:schemeClr val="bg1"/>
                </a:solidFill>
                <a:latin typeface="Metropolis" panose="00000500000000000000" pitchFamily="50" charset="0"/>
              </a:rPr>
              <a:t>Conclusion.</a:t>
            </a:r>
          </a:p>
        </p:txBody>
      </p:sp>
      <p:sp>
        <p:nvSpPr>
          <p:cNvPr id="7" name="TextBox 6">
            <a:extLst>
              <a:ext uri="{FF2B5EF4-FFF2-40B4-BE49-F238E27FC236}">
                <a16:creationId xmlns:a16="http://schemas.microsoft.com/office/drawing/2014/main" id="{2B539894-B1D1-4537-401C-FB5E1FE3334C}"/>
              </a:ext>
            </a:extLst>
          </p:cNvPr>
          <p:cNvSpPr txBox="1"/>
          <p:nvPr/>
        </p:nvSpPr>
        <p:spPr>
          <a:xfrm>
            <a:off x="273581" y="1122363"/>
            <a:ext cx="11505463" cy="5909310"/>
          </a:xfrm>
          <a:prstGeom prst="rect">
            <a:avLst/>
          </a:prstGeom>
          <a:noFill/>
        </p:spPr>
        <p:txBody>
          <a:bodyPr wrap="square" rtlCol="0">
            <a:spAutoFit/>
          </a:bodyPr>
          <a:lstStyle/>
          <a:p>
            <a:r>
              <a:rPr lang="en-US" b="1" dirty="0">
                <a:latin typeface="Metropolis" panose="00000500000000000000" pitchFamily="50" charset="0"/>
              </a:rPr>
              <a:t>Summary:</a:t>
            </a:r>
          </a:p>
          <a:p>
            <a:r>
              <a:rPr lang="en-US" dirty="0">
                <a:latin typeface="Metropolis" panose="00000500000000000000" pitchFamily="50" charset="0"/>
              </a:rPr>
              <a:t>MindScribe combines </a:t>
            </a:r>
            <a:r>
              <a:rPr lang="en-US" b="1" dirty="0">
                <a:latin typeface="Metropolis" panose="00000500000000000000" pitchFamily="50" charset="0"/>
              </a:rPr>
              <a:t>AI technology</a:t>
            </a:r>
            <a:r>
              <a:rPr lang="en-US" dirty="0">
                <a:latin typeface="Metropolis" panose="00000500000000000000" pitchFamily="50" charset="0"/>
              </a:rPr>
              <a:t> with </a:t>
            </a:r>
            <a:r>
              <a:rPr lang="en-US" b="1" dirty="0">
                <a:latin typeface="Metropolis" panose="00000500000000000000" pitchFamily="50" charset="0"/>
              </a:rPr>
              <a:t>emotional well-being</a:t>
            </a:r>
            <a:r>
              <a:rPr lang="en-US" dirty="0">
                <a:latin typeface="Metropolis" panose="00000500000000000000" pitchFamily="50" charset="0"/>
              </a:rPr>
              <a:t> to create a platform that encourages self-reflection and mindfulness.</a:t>
            </a:r>
            <a:br>
              <a:rPr lang="en-US" dirty="0">
                <a:latin typeface="Metropolis" panose="00000500000000000000" pitchFamily="50" charset="0"/>
              </a:rPr>
            </a:br>
            <a:r>
              <a:rPr lang="en-US" dirty="0">
                <a:latin typeface="Metropolis" panose="00000500000000000000" pitchFamily="50" charset="0"/>
              </a:rPr>
              <a:t>By integrating machine learning for text sentiment analysis, it bridges the gap between technology and mental health.</a:t>
            </a:r>
          </a:p>
          <a:p>
            <a:endParaRPr lang="en-US" b="1" dirty="0">
              <a:latin typeface="Metropolis" panose="00000500000000000000" pitchFamily="50" charset="0"/>
            </a:endParaRPr>
          </a:p>
          <a:p>
            <a:r>
              <a:rPr lang="en-US" b="1" dirty="0">
                <a:latin typeface="Metropolis" panose="00000500000000000000" pitchFamily="50" charset="0"/>
              </a:rPr>
              <a:t>Key Achievements:</a:t>
            </a:r>
          </a:p>
          <a:p>
            <a:r>
              <a:rPr lang="en-US" dirty="0">
                <a:latin typeface="Metropolis" panose="00000500000000000000" pitchFamily="50" charset="0"/>
              </a:rPr>
              <a:t>Fully functional AI-integrated journaling system.</a:t>
            </a:r>
          </a:p>
          <a:p>
            <a:r>
              <a:rPr lang="en-US" dirty="0">
                <a:latin typeface="Metropolis" panose="00000500000000000000" pitchFamily="50" charset="0"/>
              </a:rPr>
              <a:t>Clean and intuitive React interface with live data visualization.</a:t>
            </a:r>
          </a:p>
          <a:p>
            <a:r>
              <a:rPr lang="en-US" dirty="0">
                <a:latin typeface="Metropolis" panose="00000500000000000000" pitchFamily="50" charset="0"/>
              </a:rPr>
              <a:t>Successfully deployed backend and frontend with seamless communication.</a:t>
            </a:r>
          </a:p>
          <a:p>
            <a:endParaRPr lang="en-US" b="1" dirty="0">
              <a:latin typeface="Metropolis" panose="00000500000000000000" pitchFamily="50" charset="0"/>
            </a:endParaRPr>
          </a:p>
          <a:p>
            <a:r>
              <a:rPr lang="en-US" b="1" dirty="0">
                <a:latin typeface="Metropolis" panose="00000500000000000000" pitchFamily="50" charset="0"/>
              </a:rPr>
              <a:t>Future Scope:</a:t>
            </a:r>
          </a:p>
          <a:p>
            <a:r>
              <a:rPr lang="en-US" dirty="0">
                <a:latin typeface="Metropolis" panose="00000500000000000000" pitchFamily="50" charset="0"/>
              </a:rPr>
              <a:t>Integration with </a:t>
            </a:r>
            <a:r>
              <a:rPr lang="en-US" b="1" dirty="0">
                <a:latin typeface="Metropolis" panose="00000500000000000000" pitchFamily="50" charset="0"/>
              </a:rPr>
              <a:t>Google Authentication</a:t>
            </a:r>
            <a:r>
              <a:rPr lang="en-US" dirty="0">
                <a:latin typeface="Metropolis" panose="00000500000000000000" pitchFamily="50" charset="0"/>
              </a:rPr>
              <a:t> for easier user onboarding.</a:t>
            </a:r>
          </a:p>
          <a:p>
            <a:r>
              <a:rPr lang="en-US" dirty="0">
                <a:latin typeface="Metropolis" panose="00000500000000000000" pitchFamily="50" charset="0"/>
              </a:rPr>
              <a:t>Implementation of </a:t>
            </a:r>
            <a:r>
              <a:rPr lang="en-US" b="1" dirty="0">
                <a:latin typeface="Metropolis" panose="00000500000000000000" pitchFamily="50" charset="0"/>
              </a:rPr>
              <a:t>voice-to-text journaling</a:t>
            </a:r>
            <a:r>
              <a:rPr lang="en-US" dirty="0">
                <a:latin typeface="Metropolis" panose="00000500000000000000" pitchFamily="50" charset="0"/>
              </a:rPr>
              <a:t> using speech recognition.</a:t>
            </a:r>
          </a:p>
          <a:p>
            <a:r>
              <a:rPr lang="en-US" dirty="0">
                <a:latin typeface="Metropolis" panose="00000500000000000000" pitchFamily="50" charset="0"/>
              </a:rPr>
              <a:t>Addition of </a:t>
            </a:r>
            <a:r>
              <a:rPr lang="en-US" b="1" dirty="0">
                <a:latin typeface="Metropolis" panose="00000500000000000000" pitchFamily="50" charset="0"/>
              </a:rPr>
              <a:t>daily mood notifications</a:t>
            </a:r>
            <a:r>
              <a:rPr lang="en-US" dirty="0">
                <a:latin typeface="Metropolis" panose="00000500000000000000" pitchFamily="50" charset="0"/>
              </a:rPr>
              <a:t> and long-term progress tracking.</a:t>
            </a:r>
          </a:p>
          <a:p>
            <a:r>
              <a:rPr lang="en-US" dirty="0">
                <a:latin typeface="Metropolis" panose="00000500000000000000" pitchFamily="50" charset="0"/>
              </a:rPr>
              <a:t>Deployment of </a:t>
            </a:r>
            <a:r>
              <a:rPr lang="en-US" b="1" dirty="0">
                <a:latin typeface="Metropolis" panose="00000500000000000000" pitchFamily="50" charset="0"/>
              </a:rPr>
              <a:t>mobile version</a:t>
            </a:r>
            <a:r>
              <a:rPr lang="en-US" dirty="0">
                <a:latin typeface="Metropolis" panose="00000500000000000000" pitchFamily="50" charset="0"/>
              </a:rPr>
              <a:t> using React Native.</a:t>
            </a:r>
          </a:p>
          <a:p>
            <a:endParaRPr lang="en-US" dirty="0">
              <a:latin typeface="Metropolis" panose="00000500000000000000" pitchFamily="50" charset="0"/>
            </a:endParaRPr>
          </a:p>
          <a:p>
            <a:r>
              <a:rPr lang="en-US" b="1" dirty="0">
                <a:latin typeface="Metropolis" panose="00000500000000000000" pitchFamily="50" charset="0"/>
              </a:rPr>
              <a:t>Conclusion Statement:</a:t>
            </a:r>
          </a:p>
          <a:p>
            <a:r>
              <a:rPr lang="en-US" dirty="0">
                <a:latin typeface="Metropolis" panose="00000500000000000000" pitchFamily="50" charset="0"/>
              </a:rPr>
              <a:t>“MindScribe empowers users to understand their emotions through data — turning simple journaling into a journey of emotional awareness and self-improvement.”</a:t>
            </a:r>
          </a:p>
          <a:p>
            <a:endParaRPr lang="en-IN" dirty="0"/>
          </a:p>
        </p:txBody>
      </p:sp>
    </p:spTree>
    <p:extLst>
      <p:ext uri="{BB962C8B-B14F-4D97-AF65-F5344CB8AC3E}">
        <p14:creationId xmlns:p14="http://schemas.microsoft.com/office/powerpoint/2010/main" val="375654071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247</TotalTime>
  <Words>627</Words>
  <Application>Microsoft Office PowerPoint</Application>
  <PresentationFormat>Widescreen</PresentationFormat>
  <Paragraphs>60</Paragraphs>
  <Slides>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Arial</vt:lpstr>
      <vt:lpstr>Calibri</vt:lpstr>
      <vt:lpstr>Calibri Light</vt:lpstr>
      <vt:lpstr>Metropolis</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Gajendra Nath</dc:creator>
  <cp:lastModifiedBy>Satyajeet Kumar</cp:lastModifiedBy>
  <cp:revision>10</cp:revision>
  <dcterms:created xsi:type="dcterms:W3CDTF">2025-08-03T09:30:41Z</dcterms:created>
  <dcterms:modified xsi:type="dcterms:W3CDTF">2025-11-08T11:38:13Z</dcterms:modified>
</cp:coreProperties>
</file>